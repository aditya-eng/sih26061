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865b807f884313" /><Relationship Type="http://schemas.openxmlformats.org/officeDocument/2006/relationships/extended-properties" Target="/docProps/app.xml" Id="Ra98ecab439634f93" /><Relationship Type="http://schemas.openxmlformats.org/officeDocument/2006/relationships/officeDocument" Target="/ppt/presentation.xml" Id="Rc11ed70e1a994f48" /></Relationships>
</file>

<file path=ppt/presentation.xml><?xml version="1.0" encoding="utf-8"?>
<p:presentation xmlns:p="http://schemas.openxmlformats.org/presentationml/2006/main">
  <p:sldMasterIdLst>
    <p:sldMasterId xmlns:r="http://schemas.openxmlformats.org/officeDocument/2006/relationships" id="2147483648" r:id="R559a8ecfadb1471d"/>
  </p:sldMasterIdLst>
  <p:notesMasterIdLst>
    <p:notesMasterId xmlns:r="http://schemas.openxmlformats.org/officeDocument/2006/relationships" r:id="R9501cf81c4124720"/>
  </p:notesMasterIdLst>
  <p:sldIdLst>
    <p:sldId xmlns:r="http://schemas.openxmlformats.org/officeDocument/2006/relationships" id="256" r:id="R05415fa50529475b"/>
    <p:sldId xmlns:r="http://schemas.openxmlformats.org/officeDocument/2006/relationships" id="257" r:id="R5086ac16f9fd4a45"/>
    <p:sldId xmlns:r="http://schemas.openxmlformats.org/officeDocument/2006/relationships" id="258" r:id="R8d0819bbbe7048ca"/>
    <p:sldId xmlns:r="http://schemas.openxmlformats.org/officeDocument/2006/relationships" id="259" r:id="Rd0fb7e184e3c4cb3"/>
    <p:sldId xmlns:r="http://schemas.openxmlformats.org/officeDocument/2006/relationships" id="260" r:id="Rc6a6efc2e8544fea"/>
    <p:sldId xmlns:r="http://schemas.openxmlformats.org/officeDocument/2006/relationships" id="261" r:id="R6c14f151d1e143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ab0d54bd84460b" /><Relationship Type="http://schemas.openxmlformats.org/officeDocument/2006/relationships/slideMaster" Target="/ppt/slideMasters/slideMaster1.xml" Id="R559a8ecfadb1471d" /><Relationship Type="http://schemas.openxmlformats.org/officeDocument/2006/relationships/notesMaster" Target="/ppt/notesMasters/notesMaster1.xml" Id="R9501cf81c4124720" /><Relationship Type="http://schemas.openxmlformats.org/officeDocument/2006/relationships/presProps" Target="/ppt/presProps.xml" Id="R29f2b4fa06ac4ccd" /><Relationship Type="http://schemas.openxmlformats.org/officeDocument/2006/relationships/tableStyles" Target="/ppt/tableStyles.xml" Id="Re5bbb0d3131340de" /><Relationship Type="http://schemas.openxmlformats.org/officeDocument/2006/relationships/slide" Target="/ppt/slides/slide1.xml" Id="R05415fa50529475b" /><Relationship Type="http://schemas.openxmlformats.org/officeDocument/2006/relationships/slide" Target="/ppt/slides/slide2.xml" Id="R5086ac16f9fd4a45" /><Relationship Type="http://schemas.openxmlformats.org/officeDocument/2006/relationships/slide" Target="/ppt/slides/slide3.xml" Id="R8d0819bbbe7048ca" /><Relationship Type="http://schemas.openxmlformats.org/officeDocument/2006/relationships/slide" Target="/ppt/slides/slide4.xml" Id="Rd0fb7e184e3c4cb3" /><Relationship Type="http://schemas.openxmlformats.org/officeDocument/2006/relationships/slide" Target="/ppt/slides/slide5.xml" Id="Rc6a6efc2e8544fea" /><Relationship Type="http://schemas.openxmlformats.org/officeDocument/2006/relationships/slide" Target="/ppt/slides/slide6.xml" Id="R6c14f151d1e143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96f82e384e41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df7538b7114cdc" /><Relationship Type="http://schemas.openxmlformats.org/officeDocument/2006/relationships/notesMaster" Target="/ppt/notesMasters/notesMaster1.xml" Id="R2faa17c608d749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441fd586114fef" /><Relationship Type="http://schemas.openxmlformats.org/officeDocument/2006/relationships/notesMaster" Target="/ppt/notesMasters/notesMaster1.xml" Id="Rf2074ac18ed64e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8f057cd29e44bd" /><Relationship Type="http://schemas.openxmlformats.org/officeDocument/2006/relationships/notesMaster" Target="/ppt/notesMasters/notesMaster1.xml" Id="R1cee66a08d554d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56686fdefb4fc1" /><Relationship Type="http://schemas.openxmlformats.org/officeDocument/2006/relationships/notesMaster" Target="/ppt/notesMasters/notesMaster1.xml" Id="R0dc90236559a40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e3c9012aa04d8a" /><Relationship Type="http://schemas.openxmlformats.org/officeDocument/2006/relationships/notesMaster" Target="/ppt/notesMasters/notesMaster1.xml" Id="Rfdf7c703a7504b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20531246c54b07" /><Relationship Type="http://schemas.openxmlformats.org/officeDocument/2006/relationships/notesMaster" Target="/ppt/notesMasters/notesMaster1.xml" Id="Rc3a75ea61bda4f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35 seconds. Our project asks a practical question: how should a polar station use a limited fuel stock while keeping critical power available through winter? We combine AI forecasts with an explainable generator and battery schedule. The prototype described in our brief is an offline simulation and planning tool. It is not a deployed station controller. PS title, ID, category and 2026 year follow the supplied SIH_HANDOFF_BRIEF_claude.md section 1. Visual: AI-generated conceptual illustration using the built-in image tool, not Maitri or a verified station design. Prompt: cinematic polar station on the right, dark navy negative space, modest hybrid equipment, no text or futuristic structures.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Solar and wind alone do not resolve a polar energy problem. The station must also manage limited fuel, snow-covered equipment and changing wind conditions. Our distinction is how those operating constraints enter the schedule together. A seasonal fuel allowance guides the next operating horizon. Availability estimates reduce expected solar and wind output when snow or icing affects equipment. A clean-air penalty discourages diesel operation during forecast contamination windows, but this is a soft preference and does not guarantee uncontaminated measurements. The operating policy prioritises science and life-safety loads under the model assumptions. Visual: AI-generated conceptual hybrid system, not actual station equipment or electrical design. Sources: supplied brief sections 2 and 7. Context: de Witt, Chung and Lee (2024), Mapping Renewable Energy among Antarctic Research Stations, https://doi.org/10.3390/su16010426 and https://repository.kopri.re.kr/handle/201206/15069. No claim of being the first system or having no competitors.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Historical weather drives a documented station model. LightGBM forecasts electrical demand and available solar and wind output with low, central and high estimates. A wider forecast range asks the optimiser to hold more reserve. A mixed-integer optimisation model schedules generators, battery use and load priorities over 36 hours, then refreshes every 6 hours. The offline console exposes outcomes and assumptions. The seasonal allocator uses eight historical weather years to inform daily fuel allowances. The prototype uses ERA5 reanalysis with deliberately degraded forecasts, not a live weather forecast service. The controller does not see future weather truth. Source: supplied brief sections 4 through 7. Run locally after data caching and model preparation. Modbus/MQTT interfaces exist only as untested translation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 supplied brief describes a working software pipeline and offline dashboard. Our immediate demonstration scope is the seasonal replay, comparison with tuned rules and inspection of decisions. No public station load dataset was used by this project, so loads come from a physics-based model. Equipment sizes and fuel stock are design assumptions, not published Maitri II specifications. The 72,000-litre tank was deliberately set near baseline seasonal need to create a fuel-constrained test. Storm, generator-failure and forecast-bust test outcomes were pending in the brief. Before any real actuation, station-specific calibration, operator procedures and hardware-in-the-loop testing remain necessary. A 36-hour student build should focus on reproducing and validating this workflow rather than adding untested integrations. Visual: AI-generated conceptual blizzard scene, not evidence of a real station event. Source: supplied brief sections 6, 8, 10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In the single 210-day 2023 simulation reported by our brief, the proposed controller consumed 63,385 litres of a 72,000-litre tank, leaving 8,615 litres. The tuned rules controller depleted its tank and experienced six critical outage events. The proposed controller recorded none in this run. We do not claim a 12 percent like-for-like fuel saving because the baseline ran out of fuel and delivered a different level of service. The tank was deliberately calibrated near the baseline seasonal requirement. Real-world fuel savings and reliability require independent validation. Quantile forecasts are also not a free efficiency gain: the point-forecast version used 63,280 litres but had one critical outage, versus 63,385 litres and zero with uncertainty-based reserve. This is suggestive evidence from one run, not statistical proof. Modelled clean-air compliance was 43.7 percent versus 27.4 percent for tuned rules, so we do not claim clean-air protection is solved. Reduced fuel consumption could reduce local combustion emissions, but no validated emissions or cost result is claimed. Source: supplied SIH_HANDOFF_BRIEF_claude.md sections 6, 8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These sources support the operating context and modelling choices. Our simulation results come from the team brief, not from the cited literature. The next useful step is to test how sensitive those results are to load assumptions and difficult weather. We are presenting an explainable fuel-planning prototype for polar operations. References: de Witt M, Chung C, Lee J (2024), Sustainability 16(1), 426, https://doi.org/10.3390/su16010426. Primary author repository: https://repository.kopri.re.kr/handle/201206/15069. ERA5 documentation: https://cds.climate.copernicus.eu/datasets/reanalysis-era5-single-levels and https://open-meteo.com/en/docs/historical-weather-api. Software: https://pvlib-python.readthedocs.io/ , https://lightgbm.readthedocs.io/ , https://coin-or.github.io/pulp/ , https://highs.dev/ . Team evidence: supplied SIH_HANDOFF_BRIEF_claude.md, sections 6–10. Research references are contextual support, not external validation of this controller.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e9cda9432b46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fddc347c1448d" /><Relationship Type="http://schemas.openxmlformats.org/officeDocument/2006/relationships/slideLayout" Target="/ppt/slideLayouts/slideLayout1.xml" Id="R33a51903c37241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a51903c37241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e4328428cc4399" /><Relationship Type="http://schemas.openxmlformats.org/officeDocument/2006/relationships/image" Target="/ppt/media/image.png" Id="R9b7792c6d1234500" /><Relationship Type="http://schemas.openxmlformats.org/officeDocument/2006/relationships/notesSlide" Target="/ppt/notesSlides/notesSlide1.xml" Id="R0018f29596414c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74e45f270d4dea" /><Relationship Type="http://schemas.openxmlformats.org/officeDocument/2006/relationships/image" Target="/ppt/media/image2.png" Id="R3dd7fbef360e49c4" /><Relationship Type="http://schemas.openxmlformats.org/officeDocument/2006/relationships/notesSlide" Target="/ppt/notesSlides/notesSlide2.xml" Id="R21786b5ffc9d4e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2cdbc9dd254880" /><Relationship Type="http://schemas.openxmlformats.org/officeDocument/2006/relationships/notesSlide" Target="/ppt/notesSlides/notesSlide3.xml" Id="R9214fb0e692542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e3d0318bdc4315" /><Relationship Type="http://schemas.openxmlformats.org/officeDocument/2006/relationships/image" Target="/ppt/media/image3.png" Id="R445cb7cb2d054f43" /><Relationship Type="http://schemas.openxmlformats.org/officeDocument/2006/relationships/notesSlide" Target="/ppt/notesSlides/notesSlide4.xml" Id="R9b00f4a5d09843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6cd97863484fd4" /><Relationship Type="http://schemas.openxmlformats.org/officeDocument/2006/relationships/chart" Target="/ppt/slides/charts/chart1.xml" Id="R72a9609c58984616" /><Relationship Type="http://schemas.openxmlformats.org/officeDocument/2006/relationships/chart" Target="/ppt/slides/charts/chart2.xml" Id="R081857bca2754c19" /><Relationship Type="http://schemas.openxmlformats.org/officeDocument/2006/relationships/notesSlide" Target="/ppt/notesSlides/notesSlide5.xml" Id="Rb11d235874fa4e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e3d65daada4678" /><Relationship Type="http://schemas.openxmlformats.org/officeDocument/2006/relationships/notesSlide" Target="/ppt/notesSlides/notesSlide6.xml" Id="R27eaa16ac35140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C3D"/>
                </a:solidFill>
                <a:latin typeface="Aptos"/>
                <a:ea typeface="Aptos"/>
                <a:cs typeface="Aptos"/>
              </a:rPr>
              <a:t>Fuel consumed (litres)</a:t>
            </a:r>
          </a:p>
        </c:rich>
      </c:tx>
      <c:overlay val="0"/>
      <c:txPr>
        <a:bodyPr xmlns:a="http://schemas.openxmlformats.org/drawingml/2006/main" anchorCtr="1"/>
        <a:lstStyle xmlns:a="http://schemas.openxmlformats.org/drawingml/2006/main"/>
        <a:p xmlns:a="http://schemas.openxmlformats.org/drawingml/2006/main">
          <a:pPr>
            <a:defRPr sz="1800" b="1">
              <a:solidFill>
                <a:srgbClr val="142C3D"/>
              </a:solidFill>
              <a:latin typeface="Aptos"/>
              <a:ea typeface="Aptos"/>
              <a:cs typeface="Aptos"/>
            </a:defRPr>
          </a:pPr>
        </a:p>
      </c:txPr>
    </c:title>
    <c:plotArea>
      <c:barChart>
        <c:barDir val="col"/>
        <c:grouping val="clustered"/>
        <c:varyColors val="0"/>
        <c:ser>
          <c:idx val="0"/>
          <c:order val="0"/>
          <c:tx>
            <c:v>Fuel consumed (litres)</c:v>
          </c:tx>
          <c:spPr>
            <a:solidFill xmlns:a="http://schemas.openxmlformats.org/drawingml/2006/main">
              <a:srgbClr val="208F98"/>
            </a:solidFill>
          </c:spPr>
          <c:dPt>
            <c:idx val="0"/>
            <c:invertIfNegative val="0"/>
            <c:spPr>
              <a:solidFill xmlns:a="http://schemas.openxmlformats.org/drawingml/2006/main">
                <a:srgbClr val="D3A66E"/>
              </a:solidFill>
            </c:spPr>
          </c:dPt>
          <c:dPt>
            <c:idx val="1"/>
            <c:invertIfNegative val="0"/>
            <c:spPr>
              <a:solidFill xmlns:a="http://schemas.openxmlformats.org/drawingml/2006/main">
                <a:srgbClr val="208F98"/>
              </a:solidFill>
            </c:spPr>
          </c:dPt>
          <c:cat>
            <c:strRef>
              <c:f>'Chart Data'!$A$2:$A$3</c:f>
              <c:strCache>
                <c:ptCount val="2"/>
                <c:pt idx="0">
                  <c:v>Tuned rules</c:v>
                </c:pt>
                <c:pt idx="1">
                  <c:v>Proposed</c:v>
                </c:pt>
              </c:strCache>
            </c:strRef>
          </c:cat>
          <c:val>
            <c:numRef>
              <c:f>'Chart Data'!$B$2:$B$3</c:f>
              <c:numCache>
                <c:formatCode>#,##0</c:formatCode>
                <c:ptCount val="2"/>
                <c:pt idx="0">
                  <c:v>72000</c:v>
                </c:pt>
                <c:pt idx="1">
                  <c:v>63385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C3D"/>
                  </a:solidFill>
                  <a:latin typeface="Aptos"/>
                  <a:ea typeface="Aptos"/>
                  <a:cs typeface="Aptos"/>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BD5"/>
            </a:solidFill>
          </a:ln>
        </c:spPr>
        <c:txPr>
          <a:bodyPr xmlns:a="http://schemas.openxmlformats.org/drawingml/2006/main" anchorCtr="1"/>
          <a:lstStyle xmlns:a="http://schemas.openxmlformats.org/drawingml/2006/main"/>
          <a:p xmlns:a="http://schemas.openxmlformats.org/drawingml/2006/main">
            <a:pPr>
              <a:defRPr sz="1500">
                <a:solidFill>
                  <a:srgbClr val="142C3D"/>
                </a:solidFill>
                <a:latin typeface="Aptos"/>
                <a:ea typeface="Aptos"/>
                <a:cs typeface="Aptos"/>
              </a:defRPr>
            </a:pPr>
          </a:p>
        </c:txPr>
        <c:crossAx val="48672768"/>
      </c:catAx>
      <c:valAx>
        <c:axId val="48672768"/>
        <c:scaling>
          <c:orientation val="minMax"/>
          <c:max val="8000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a:solidFill>
                  <a:srgbClr val="536777"/>
                </a:solidFill>
                <a:latin typeface="Aptos"/>
                <a:ea typeface="Aptos"/>
                <a:cs typeface="Aptos"/>
              </a:defRPr>
            </a:pPr>
          </a:p>
        </c:txPr>
        <c:crossAx val="48650112"/>
        <c:crossBetween val="between"/>
        <c:majorUnit val="20000"/>
      </c:valAx>
      <c:spPr>
        <a:solidFill xmlns:a="http://schemas.openxmlformats.org/drawingml/2006/main">
          <a:srgbClr val="F4F8FB"/>
        </a:solidFill>
        <a:ln xmlns:a="http://schemas.openxmlformats.org/drawingml/2006/main">
          <a:noFill/>
        </a:ln>
      </c:spPr>
    </c:plotArea>
    <c:plotVisOnly val="1"/>
  </c:chart>
  <c:spPr>
    <a:solidFill xmlns:a="http://schemas.openxmlformats.org/drawingml/2006/main">
      <a:srgbClr val="F4F8FB"/>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42C3D"/>
                </a:solidFill>
                <a:latin typeface="Aptos"/>
                <a:ea typeface="Aptos"/>
                <a:cs typeface="Aptos"/>
              </a:rPr>
              <a:t>Critical outage events</a:t>
            </a:r>
          </a:p>
        </c:rich>
      </c:tx>
      <c:overlay val="0"/>
      <c:txPr>
        <a:bodyPr xmlns:a="http://schemas.openxmlformats.org/drawingml/2006/main" anchorCtr="1"/>
        <a:lstStyle xmlns:a="http://schemas.openxmlformats.org/drawingml/2006/main"/>
        <a:p xmlns:a="http://schemas.openxmlformats.org/drawingml/2006/main">
          <a:pPr>
            <a:defRPr sz="1800" b="1">
              <a:solidFill>
                <a:srgbClr val="142C3D"/>
              </a:solidFill>
              <a:latin typeface="Aptos"/>
              <a:ea typeface="Aptos"/>
              <a:cs typeface="Aptos"/>
            </a:defRPr>
          </a:pPr>
        </a:p>
      </c:txPr>
    </c:title>
    <c:plotArea>
      <c:barChart>
        <c:barDir val="col"/>
        <c:grouping val="clustered"/>
        <c:varyColors val="0"/>
        <c:ser>
          <c:idx val="0"/>
          <c:order val="0"/>
          <c:tx>
            <c:v>Critical outage events</c:v>
          </c:tx>
          <c:spPr>
            <a:solidFill xmlns:a="http://schemas.openxmlformats.org/drawingml/2006/main">
              <a:srgbClr val="208F98"/>
            </a:solidFill>
          </c:spPr>
          <c:dPt>
            <c:idx val="0"/>
            <c:invertIfNegative val="0"/>
            <c:spPr>
              <a:solidFill xmlns:a="http://schemas.openxmlformats.org/drawingml/2006/main">
                <a:srgbClr val="D3A66E"/>
              </a:solidFill>
            </c:spPr>
          </c:dPt>
          <c:dPt>
            <c:idx val="1"/>
            <c:invertIfNegative val="0"/>
            <c:spPr>
              <a:solidFill xmlns:a="http://schemas.openxmlformats.org/drawingml/2006/main">
                <a:srgbClr val="208F98"/>
              </a:solidFill>
            </c:spPr>
          </c:dPt>
          <c:cat>
            <c:strRef>
              <c:f>'Chart Data'!$A$2:$A$3</c:f>
              <c:strCache>
                <c:ptCount val="2"/>
                <c:pt idx="0">
                  <c:v>Tuned rules</c:v>
                </c:pt>
                <c:pt idx="1">
                  <c:v>Proposed</c:v>
                </c:pt>
              </c:strCache>
            </c:strRef>
          </c:cat>
          <c:val>
            <c:numRef>
              <c:f>'Chart Data'!$B$2:$B$3</c:f>
              <c:numCache>
                <c:formatCode>#,##0</c:formatCode>
                <c:ptCount val="2"/>
                <c:pt idx="0">
                  <c:v>6</c:v>
                </c:pt>
                <c:pt idx="1">
                  <c:v>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C3D"/>
                  </a:solidFill>
                  <a:latin typeface="Aptos"/>
                  <a:ea typeface="Aptos"/>
                  <a:cs typeface="Aptos"/>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DCBD5"/>
            </a:solidFill>
          </a:ln>
        </c:spPr>
        <c:txPr>
          <a:bodyPr xmlns:a="http://schemas.openxmlformats.org/drawingml/2006/main" anchorCtr="1"/>
          <a:lstStyle xmlns:a="http://schemas.openxmlformats.org/drawingml/2006/main"/>
          <a:p xmlns:a="http://schemas.openxmlformats.org/drawingml/2006/main">
            <a:pPr>
              <a:defRPr sz="1500">
                <a:solidFill>
                  <a:srgbClr val="142C3D"/>
                </a:solidFill>
                <a:latin typeface="Aptos"/>
                <a:ea typeface="Aptos"/>
                <a:cs typeface="Aptos"/>
              </a:defRPr>
            </a:pPr>
          </a:p>
        </c:txPr>
        <c:crossAx val="48672768"/>
      </c:catAx>
      <c:valAx>
        <c:axId val="48672768"/>
        <c:scaling>
          <c:orientation val="minMax"/>
          <c:max val="8"/>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a:solidFill>
                  <a:srgbClr val="536777"/>
                </a:solidFill>
                <a:latin typeface="Aptos"/>
                <a:ea typeface="Aptos"/>
                <a:cs typeface="Aptos"/>
              </a:defRPr>
            </a:pPr>
          </a:p>
        </c:txPr>
        <c:crossAx val="48650112"/>
        <c:crossBetween val="between"/>
        <c:majorUnit val="2"/>
      </c:valAx>
      <c:spPr>
        <a:solidFill xmlns:a="http://schemas.openxmlformats.org/drawingml/2006/main">
          <a:srgbClr val="F4F8FB"/>
        </a:solidFill>
        <a:ln xmlns:a="http://schemas.openxmlformats.org/drawingml/2006/main">
          <a:noFill/>
        </a:ln>
      </c:spPr>
    </c:plotArea>
    <c:plotVisOnly val="1"/>
  </c:chart>
  <c:spPr>
    <a:solidFill xmlns:a="http://schemas.openxmlformats.org/drawingml/2006/main">
      <a:srgbClr val="F4F8FB"/>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B2B"/>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7792c6d123450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4466F6-BBAF-44EA-B640-5828C938F474}"/>
              </a:ext>
            </a:extLst>
          </p:cNvPr>
          <p:cNvSpPr>
            <a:spLocks xmlns:a="http://schemas.openxmlformats.org/drawingml/2006/main" noGrp="1"/>
          </p:cNvSpPr>
          <p:nvPr/>
        </p:nvSpPr>
        <p:spPr>
          <a:xfrm xmlns:a="http://schemas.openxmlformats.org/drawingml/2006/main">
            <a:off x="609600" y="4000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DD7DC"/>
                </a:solidFill>
                <a:latin typeface="Aptos"/>
                <a:ea typeface="Aptos"/>
                <a:cs typeface="Aptos"/>
              </a:defRPr>
            </a:pPr>
            <a:r>
              <a:rPr sz="1500" b="1">
                <a:solidFill>
                  <a:srgbClr val="6DD7DC"/>
                </a:solidFill>
                <a:latin typeface="Aptos"/>
                <a:ea typeface="Aptos"/>
                <a:cs typeface="Aptos"/>
              </a:rPr>
              <a:t>SMART INDIA HACKATHON 2026</a:t>
            </a:r>
          </a:p>
        </p:txBody>
      </p:sp>
      <p:sp>
        <p:nvSpPr>
          <p:cNvPr id="3" name="">
            <a:extLst xmlns:a="http://schemas.openxmlformats.org/drawingml/2006/main">
              <a:ext uri="{FF2B5EF4-FFF2-40B4-BE49-F238E27FC236}">
                <a16:creationId xmlns:a16="http://schemas.microsoft.com/office/drawing/2014/main" id="{045235E9-409A-41D2-84CE-BC7C97245D47}"/>
              </a:ext>
            </a:extLst>
          </p:cNvPr>
          <p:cNvSpPr>
            <a:spLocks xmlns:a="http://schemas.openxmlformats.org/drawingml/2006/main" noGrp="1"/>
          </p:cNvSpPr>
          <p:nvPr/>
        </p:nvSpPr>
        <p:spPr>
          <a:xfrm xmlns:a="http://schemas.openxmlformats.org/drawingml/2006/main">
            <a:off x="609600" y="1285875"/>
            <a:ext cx="971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4F8FB"/>
                </a:solidFill>
                <a:latin typeface="Aptos"/>
                <a:ea typeface="Aptos"/>
                <a:cs typeface="Aptos"/>
              </a:defRPr>
            </a:pPr>
            <a:r>
              <a:rPr sz="4350" b="1">
                <a:solidFill>
                  <a:srgbClr val="F4F8FB"/>
                </a:solidFill>
                <a:latin typeface="Aptos"/>
                <a:ea typeface="Aptos"/>
                <a:cs typeface="Aptos"/>
              </a:rPr>
              <a:t>Fuel-Survivability</a:t>
            </a:r>
          </a:p>
          <a:p xmlns:a="http://schemas.openxmlformats.org/drawingml/2006/main">
            <a:pPr>
              <a:defRPr sz="4350" b="1">
                <a:solidFill>
                  <a:srgbClr val="F4F8FB"/>
                </a:solidFill>
                <a:latin typeface="Aptos"/>
                <a:ea typeface="Aptos"/>
                <a:cs typeface="Aptos"/>
              </a:defRPr>
            </a:pPr>
            <a:r>
              <a:rPr sz="4350" b="1">
                <a:solidFill>
                  <a:srgbClr val="F4F8FB"/>
                </a:solidFill>
                <a:latin typeface="Aptos"/>
                <a:ea typeface="Aptos"/>
                <a:cs typeface="Aptos"/>
              </a:rPr>
              <a:t>Energy Management</a:t>
            </a:r>
          </a:p>
        </p:txBody>
      </p:sp>
      <p:sp>
        <p:nvSpPr>
          <p:cNvPr id="4" name="">
            <a:extLst xmlns:a="http://schemas.openxmlformats.org/drawingml/2006/main">
              <a:ext uri="{FF2B5EF4-FFF2-40B4-BE49-F238E27FC236}">
                <a16:creationId xmlns:a16="http://schemas.microsoft.com/office/drawing/2014/main" id="{17CFAFC9-F867-4B8B-8441-D06540D0CF2B}"/>
              </a:ext>
            </a:extLst>
          </p:cNvPr>
          <p:cNvSpPr>
            <a:spLocks xmlns:a="http://schemas.openxmlformats.org/drawingml/2006/main" noGrp="1"/>
          </p:cNvSpPr>
          <p:nvPr/>
        </p:nvSpPr>
        <p:spPr>
          <a:xfrm xmlns:a="http://schemas.openxmlformats.org/drawingml/2006/main">
            <a:off x="628650" y="285750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8FB"/>
                </a:solidFill>
                <a:latin typeface="Aptos"/>
                <a:ea typeface="Aptos"/>
                <a:cs typeface="Aptos"/>
              </a:defRPr>
            </a:pPr>
            <a:r>
              <a:rPr sz="2325" b="0">
                <a:solidFill>
                  <a:srgbClr val="F4F8FB"/>
                </a:solidFill>
                <a:latin typeface="Aptos"/>
                <a:ea typeface="Aptos"/>
                <a:cs typeface="Aptos"/>
              </a:rPr>
              <a:t>Power planning for the polar winter</a:t>
            </a:r>
          </a:p>
        </p:txBody>
      </p:sp>
      <p:sp>
        <p:nvSpPr>
          <p:cNvPr id="5" name="">
            <a:extLst xmlns:a="http://schemas.openxmlformats.org/drawingml/2006/main">
              <a:ext uri="{FF2B5EF4-FFF2-40B4-BE49-F238E27FC236}">
                <a16:creationId xmlns:a16="http://schemas.microsoft.com/office/drawing/2014/main" id="{E1EA3EB4-7550-484B-933A-A79F9C67D25A}"/>
              </a:ext>
            </a:extLst>
          </p:cNvPr>
          <p:cNvSpPr>
            <a:spLocks xmlns:a="http://schemas.openxmlformats.org/drawingml/2006/main" noGrp="1"/>
          </p:cNvSpPr>
          <p:nvPr/>
        </p:nvSpPr>
        <p:spPr>
          <a:xfrm xmlns:a="http://schemas.openxmlformats.org/drawingml/2006/main">
            <a:off x="628650" y="3705225"/>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DD7DC"/>
                </a:solidFill>
                <a:latin typeface="Aptos"/>
                <a:ea typeface="Aptos"/>
                <a:cs typeface="Aptos"/>
              </a:defRPr>
            </a:pPr>
            <a:r>
              <a:rPr sz="2100" b="1">
                <a:solidFill>
                  <a:srgbClr val="6DD7DC"/>
                </a:solidFill>
                <a:latin typeface="Aptos"/>
                <a:ea typeface="Aptos"/>
                <a:cs typeface="Aptos"/>
              </a:rPr>
              <a:t>SIH26061</a:t>
            </a:r>
          </a:p>
        </p:txBody>
      </p:sp>
      <p:sp>
        <p:nvSpPr>
          <p:cNvPr id="6" name="">
            <a:extLst xmlns:a="http://schemas.openxmlformats.org/drawingml/2006/main">
              <a:ext uri="{FF2B5EF4-FFF2-40B4-BE49-F238E27FC236}">
                <a16:creationId xmlns:a16="http://schemas.microsoft.com/office/drawing/2014/main" id="{F1E4197D-63E5-43DD-8AAB-BD3F30CA87EE}"/>
              </a:ext>
            </a:extLst>
          </p:cNvPr>
          <p:cNvSpPr>
            <a:spLocks xmlns:a="http://schemas.openxmlformats.org/drawingml/2006/main" noGrp="1"/>
          </p:cNvSpPr>
          <p:nvPr/>
        </p:nvSpPr>
        <p:spPr>
          <a:xfrm xmlns:a="http://schemas.openxmlformats.org/drawingml/2006/main">
            <a:off x="628650" y="413385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4F8FB"/>
                </a:solidFill>
                <a:latin typeface="Aptos"/>
                <a:ea typeface="Aptos"/>
                <a:cs typeface="Aptos"/>
              </a:defRPr>
            </a:pPr>
            <a:r>
              <a:rPr sz="1875" b="0">
                <a:solidFill>
                  <a:srgbClr val="F4F8FB"/>
                </a:solidFill>
                <a:latin typeface="Aptos"/>
                <a:ea typeface="Aptos"/>
                <a:cs typeface="Aptos"/>
              </a:rPr>
              <a:t>AI-Driven Smart Energy Management</a:t>
            </a:r>
          </a:p>
          <a:p xmlns:a="http://schemas.openxmlformats.org/drawingml/2006/main">
            <a:pPr>
              <a:defRPr sz="1875" b="0">
                <a:solidFill>
                  <a:srgbClr val="F4F8FB"/>
                </a:solidFill>
                <a:latin typeface="Aptos"/>
                <a:ea typeface="Aptos"/>
                <a:cs typeface="Aptos"/>
              </a:defRPr>
            </a:pPr>
            <a:r>
              <a:rPr sz="1875" b="0">
                <a:solidFill>
                  <a:srgbClr val="F4F8FB"/>
                </a:solidFill>
                <a:latin typeface="Aptos"/>
                <a:ea typeface="Aptos"/>
                <a:cs typeface="Aptos"/>
              </a:rPr>
              <a:t>System for Polar Research Stations</a:t>
            </a:r>
          </a:p>
        </p:txBody>
      </p:sp>
      <p:sp>
        <p:nvSpPr>
          <p:cNvPr id="7" name="">
            <a:extLst xmlns:a="http://schemas.openxmlformats.org/drawingml/2006/main">
              <a:ext uri="{FF2B5EF4-FFF2-40B4-BE49-F238E27FC236}">
                <a16:creationId xmlns:a16="http://schemas.microsoft.com/office/drawing/2014/main" id="{D3E7A35A-6D75-456F-A565-C32D0FD11C2A}"/>
              </a:ext>
            </a:extLst>
          </p:cNvPr>
          <p:cNvSpPr>
            <a:spLocks xmlns:a="http://schemas.openxmlformats.org/drawingml/2006/main" noGrp="1"/>
          </p:cNvSpPr>
          <p:nvPr/>
        </p:nvSpPr>
        <p:spPr>
          <a:xfrm xmlns:a="http://schemas.openxmlformats.org/drawingml/2006/main">
            <a:off x="628650" y="5057775"/>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9BBC9"/>
                </a:solidFill>
                <a:latin typeface="Aptos"/>
                <a:ea typeface="Aptos"/>
                <a:cs typeface="Aptos"/>
              </a:defRPr>
            </a:pPr>
            <a:r>
              <a:rPr sz="1575" b="0">
                <a:solidFill>
                  <a:srgbClr val="A9BBC9"/>
                </a:solidFill>
                <a:latin typeface="Aptos"/>
                <a:ea typeface="Aptos"/>
                <a:cs typeface="Aptos"/>
              </a:rPr>
              <a:t>Clean &amp; Green Technology     /     Software</a:t>
            </a:r>
          </a:p>
        </p:txBody>
      </p:sp>
      <p:sp>
        <p:nvSpPr>
          <p:cNvPr id="8" name="">
            <a:extLst xmlns:a="http://schemas.openxmlformats.org/drawingml/2006/main">
              <a:ext uri="{FF2B5EF4-FFF2-40B4-BE49-F238E27FC236}">
                <a16:creationId xmlns:a16="http://schemas.microsoft.com/office/drawing/2014/main" id="{3990C541-E85E-495D-93A8-4A55672A396E}"/>
              </a:ext>
            </a:extLst>
          </p:cNvPr>
          <p:cNvSpPr>
            <a:spLocks xmlns:a="http://schemas.openxmlformats.org/drawingml/2006/main" noGrp="1"/>
          </p:cNvSpPr>
          <p:nvPr/>
        </p:nvSpPr>
        <p:spPr>
          <a:xfrm xmlns:a="http://schemas.openxmlformats.org/drawingml/2006/main">
            <a:off x="628650" y="59055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4F8FB"/>
                </a:solidFill>
                <a:latin typeface="Aptos"/>
                <a:ea typeface="Aptos"/>
                <a:cs typeface="Aptos"/>
              </a:defRPr>
            </a:pPr>
            <a:r>
              <a:rPr sz="1950" b="1">
                <a:solidFill>
                  <a:srgbClr val="F4F8FB"/>
                </a:solidFill>
                <a:latin typeface="Aptos"/>
                <a:ea typeface="Aptos"/>
                <a:cs typeface="Aptos"/>
              </a:rPr>
              <a:t>TEAM PINK MONSTER</a:t>
            </a:r>
          </a:p>
        </p:txBody>
      </p:sp>
      <p:sp>
        <p:nvSpPr>
          <p:cNvPr id="9" name="">
            <a:extLst xmlns:a="http://schemas.openxmlformats.org/drawingml/2006/main">
              <a:ext uri="{FF2B5EF4-FFF2-40B4-BE49-F238E27FC236}">
                <a16:creationId xmlns:a16="http://schemas.microsoft.com/office/drawing/2014/main" id="{A493BCDB-A0DD-43B4-8261-1EB5A149C2C4}"/>
              </a:ext>
            </a:extLst>
          </p:cNvPr>
          <p:cNvSpPr>
            <a:spLocks xmlns:a="http://schemas.openxmlformats.org/drawingml/2006/main" noGrp="1"/>
          </p:cNvSpPr>
          <p:nvPr/>
        </p:nvSpPr>
        <p:spPr>
          <a:xfrm xmlns:a="http://schemas.openxmlformats.org/drawingml/2006/main">
            <a:off x="10191750" y="647700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9BBC9"/>
                </a:solidFill>
                <a:latin typeface="Aptos"/>
                <a:ea typeface="Aptos"/>
                <a:cs typeface="Aptos"/>
              </a:defRPr>
            </a:pPr>
            <a:r>
              <a:rPr sz="900" b="0">
                <a:solidFill>
                  <a:srgbClr val="A9BBC9"/>
                </a:solidFill>
                <a:latin typeface="Aptos"/>
                <a:ea typeface="Aptos"/>
                <a:cs typeface="Aptos"/>
              </a:rPr>
              <a:t>Concept illustration</a:t>
            </a:r>
          </a:p>
        </p:txBody>
      </p:sp>
    </p:spTree>
    <p:extLst>
      <p:ext uri="{BB962C8B-B14F-4D97-AF65-F5344CB8AC3E}">
        <p14:creationId xmlns:p14="http://schemas.microsoft.com/office/powerpoint/2010/main" val="56424955"/>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4809C29-10B1-4569-B6FC-34FAA5EA49E5}"/>
              </a:ext>
            </a:extLst>
          </p:cNvPr>
          <p:cNvSpPr>
            <a:spLocks xmlns:a="http://schemas.openxmlformats.org/drawingml/2006/main" noGrp="1"/>
          </p:cNvSpPr>
          <p:nvPr/>
        </p:nvSpPr>
        <p:spPr>
          <a:xfrm xmlns:a="http://schemas.openxmlformats.org/drawingml/2006/main">
            <a:off x="609600" y="3714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36777"/>
                </a:solidFill>
                <a:latin typeface="Aptos"/>
                <a:ea typeface="Aptos"/>
                <a:cs typeface="Aptos"/>
              </a:defRPr>
            </a:pPr>
            <a:r>
              <a:rPr sz="1275" b="1">
                <a:solidFill>
                  <a:srgbClr val="536777"/>
                </a:solidFill>
                <a:latin typeface="Aptos"/>
                <a:ea typeface="Aptos"/>
                <a:cs typeface="Aptos"/>
              </a:rPr>
              <a:t>IDEA TITLE / PROPOSED SOLUTION</a:t>
            </a:r>
          </a:p>
        </p:txBody>
      </p:sp>
      <p:sp>
        <p:nvSpPr>
          <p:cNvPr id="2" name="">
            <a:extLst xmlns:a="http://schemas.openxmlformats.org/drawingml/2006/main">
              <a:ext uri="{FF2B5EF4-FFF2-40B4-BE49-F238E27FC236}">
                <a16:creationId xmlns:a16="http://schemas.microsoft.com/office/drawing/2014/main" id="{18882851-B290-4EF1-82AE-7D5527A29FF1}"/>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C3D"/>
                </a:solidFill>
                <a:latin typeface="Aptos"/>
                <a:ea typeface="Aptos"/>
                <a:cs typeface="Aptos"/>
              </a:defRPr>
            </a:pPr>
            <a:r>
              <a:rPr sz="3450" b="1">
                <a:solidFill>
                  <a:srgbClr val="142C3D"/>
                </a:solidFill>
                <a:latin typeface="Aptos"/>
                <a:ea typeface="Aptos"/>
                <a:cs typeface="Aptos"/>
              </a:rPr>
              <a:t>A daily energy plan that protects the fuel stock</a:t>
            </a:r>
          </a:p>
        </p:txBody>
      </p:sp>
      <p:sp>
        <p:nvSpPr>
          <p:cNvPr id="3" name="">
            <a:extLst xmlns:a="http://schemas.openxmlformats.org/drawingml/2006/main">
              <a:ext uri="{FF2B5EF4-FFF2-40B4-BE49-F238E27FC236}">
                <a16:creationId xmlns:a16="http://schemas.microsoft.com/office/drawing/2014/main" id="{FCCB71B0-81E6-4E53-9279-1B219C25835E}"/>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PINK MONSTER</a:t>
            </a:r>
          </a:p>
        </p:txBody>
      </p:sp>
      <p:sp>
        <p:nvSpPr>
          <p:cNvPr id="4" name="">
            <a:extLst xmlns:a="http://schemas.openxmlformats.org/drawingml/2006/main">
              <a:ext uri="{FF2B5EF4-FFF2-40B4-BE49-F238E27FC236}">
                <a16:creationId xmlns:a16="http://schemas.microsoft.com/office/drawing/2014/main" id="{35A0125B-80D5-485A-9324-61867244E988}"/>
              </a:ext>
            </a:extLst>
          </p:cNvPr>
          <p:cNvSpPr>
            <a:spLocks xmlns:a="http://schemas.openxmlformats.org/drawingml/2006/main" noGrp="1"/>
          </p:cNvSpPr>
          <p:nvPr/>
        </p:nvSpPr>
        <p:spPr>
          <a:xfrm xmlns:a="http://schemas.openxmlformats.org/drawingml/2006/main">
            <a:off x="106680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02 / 06</a:t>
            </a:r>
          </a:p>
        </p:txBody>
      </p:sp>
      <p:sp>
        <p:nvSpPr>
          <p:cNvPr id="5" name="">
            <a:extLst xmlns:a="http://schemas.openxmlformats.org/drawingml/2006/main">
              <a:ext uri="{FF2B5EF4-FFF2-40B4-BE49-F238E27FC236}">
                <a16:creationId xmlns:a16="http://schemas.microsoft.com/office/drawing/2014/main" id="{DC4195C9-F649-4A89-A04A-57A6781ED9D7}"/>
              </a:ext>
            </a:extLst>
          </p:cNvPr>
          <p:cNvSpPr>
            <a:spLocks xmlns:a="http://schemas.openxmlformats.org/drawingml/2006/main" noGrp="1"/>
          </p:cNvSpPr>
          <p:nvPr/>
        </p:nvSpPr>
        <p:spPr>
          <a:xfrm xmlns:a="http://schemas.openxmlformats.org/drawingml/2006/main">
            <a:off x="609600" y="179070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777"/>
                </a:solidFill>
                <a:latin typeface="Aptos"/>
                <a:ea typeface="Aptos"/>
                <a:cs typeface="Aptos"/>
              </a:defRPr>
            </a:pPr>
            <a:r>
              <a:rPr sz="2100" b="0">
                <a:solidFill>
                  <a:srgbClr val="536777"/>
                </a:solidFill>
                <a:latin typeface="Aptos"/>
                <a:ea typeface="Aptos"/>
                <a:cs typeface="Aptos"/>
              </a:rPr>
              <a:t>One offline planner coordinates diesel, renewables and battery reserve.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dd7fbef360e49c4"/>
          <a:stretch xmlns:a="http://schemas.openxmlformats.org/drawingml/2006/main"/>
        </p:blipFill>
        <p:spPr>
          <a:xfrm xmlns:a="http://schemas.openxmlformats.org/drawingml/2006/main">
            <a:off x="6848475" y="2476500"/>
            <a:ext cx="4572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964AD07-617F-4781-B755-6BE4F98456A9}"/>
              </a:ext>
            </a:extLst>
          </p:cNvPr>
          <p:cNvSpPr>
            <a:spLocks xmlns:a="http://schemas.openxmlformats.org/drawingml/2006/main" noGrp="1"/>
          </p:cNvSpPr>
          <p:nvPr/>
        </p:nvSpPr>
        <p:spPr>
          <a:xfrm xmlns:a="http://schemas.openxmlformats.org/drawingml/2006/main">
            <a:off x="609600" y="2476500"/>
            <a:ext cx="628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36777"/>
                </a:solidFill>
                <a:latin typeface="Aptos"/>
                <a:ea typeface="Aptos"/>
                <a:cs typeface="Aptos"/>
              </a:defRPr>
            </a:pPr>
            <a:r>
              <a:rPr sz="2400" b="1">
                <a:solidFill>
                  <a:srgbClr val="536777"/>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2EABB4D1-8263-44E4-8DF5-25D540F05546}"/>
              </a:ext>
            </a:extLst>
          </p:cNvPr>
          <p:cNvSpPr>
            <a:spLocks xmlns:a="http://schemas.openxmlformats.org/drawingml/2006/main" noGrp="1"/>
          </p:cNvSpPr>
          <p:nvPr/>
        </p:nvSpPr>
        <p:spPr>
          <a:xfrm xmlns:a="http://schemas.openxmlformats.org/drawingml/2006/main">
            <a:off x="1400175" y="24765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C3D"/>
                </a:solidFill>
                <a:latin typeface="Aptos"/>
                <a:ea typeface="Aptos"/>
                <a:cs typeface="Aptos"/>
              </a:defRPr>
            </a:pPr>
            <a:r>
              <a:rPr sz="2025" b="1">
                <a:solidFill>
                  <a:srgbClr val="142C3D"/>
                </a:solidFill>
                <a:latin typeface="Aptos"/>
                <a:ea typeface="Aptos"/>
                <a:cs typeface="Aptos"/>
              </a:rPr>
              <a:t>Budget fuel until resupply</a:t>
            </a:r>
          </a:p>
        </p:txBody>
      </p:sp>
      <p:sp>
        <p:nvSpPr>
          <p:cNvPr id="9" name="">
            <a:extLst xmlns:a="http://schemas.openxmlformats.org/drawingml/2006/main">
              <a:ext uri="{FF2B5EF4-FFF2-40B4-BE49-F238E27FC236}">
                <a16:creationId xmlns:a16="http://schemas.microsoft.com/office/drawing/2014/main" id="{8D8829F3-C394-434A-9F1D-1C7FFC437E8C}"/>
              </a:ext>
            </a:extLst>
          </p:cNvPr>
          <p:cNvSpPr>
            <a:spLocks xmlns:a="http://schemas.openxmlformats.org/drawingml/2006/main" noGrp="1"/>
          </p:cNvSpPr>
          <p:nvPr/>
        </p:nvSpPr>
        <p:spPr>
          <a:xfrm xmlns:a="http://schemas.openxmlformats.org/drawingml/2006/main">
            <a:off x="1400175" y="2905125"/>
            <a:ext cx="5029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Use weather history and fuel remaining to set daily allowances. Carry unused allowance forward.</a:t>
            </a:r>
          </a:p>
        </p:txBody>
      </p:sp>
      <p:sp>
        <p:nvSpPr>
          <p:cNvPr id="10" name="">
            <a:extLst xmlns:a="http://schemas.openxmlformats.org/drawingml/2006/main">
              <a:ext uri="{FF2B5EF4-FFF2-40B4-BE49-F238E27FC236}">
                <a16:creationId xmlns:a16="http://schemas.microsoft.com/office/drawing/2014/main" id="{428B130D-B250-472A-AFF2-8E752530B9AB}"/>
              </a:ext>
            </a:extLst>
          </p:cNvPr>
          <p:cNvSpPr>
            <a:spLocks xmlns:a="http://schemas.openxmlformats.org/drawingml/2006/main" noGrp="1"/>
          </p:cNvSpPr>
          <p:nvPr/>
        </p:nvSpPr>
        <p:spPr>
          <a:xfrm xmlns:a="http://schemas.openxmlformats.org/drawingml/2006/main">
            <a:off x="609600" y="3581400"/>
            <a:ext cx="628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36777"/>
                </a:solidFill>
                <a:latin typeface="Aptos"/>
                <a:ea typeface="Aptos"/>
                <a:cs typeface="Aptos"/>
              </a:defRPr>
            </a:pPr>
            <a:r>
              <a:rPr sz="2400" b="1">
                <a:solidFill>
                  <a:srgbClr val="536777"/>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2AC705D6-DE9E-43D2-A6ED-9C92531727E3}"/>
              </a:ext>
            </a:extLst>
          </p:cNvPr>
          <p:cNvSpPr>
            <a:spLocks xmlns:a="http://schemas.openxmlformats.org/drawingml/2006/main" noGrp="1"/>
          </p:cNvSpPr>
          <p:nvPr/>
        </p:nvSpPr>
        <p:spPr>
          <a:xfrm xmlns:a="http://schemas.openxmlformats.org/drawingml/2006/main">
            <a:off x="1400175" y="35814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C3D"/>
                </a:solidFill>
                <a:latin typeface="Aptos"/>
                <a:ea typeface="Aptos"/>
                <a:cs typeface="Aptos"/>
              </a:defRPr>
            </a:pPr>
            <a:r>
              <a:rPr sz="2025" b="1">
                <a:solidFill>
                  <a:srgbClr val="142C3D"/>
                </a:solidFill>
                <a:latin typeface="Aptos"/>
                <a:ea typeface="Aptos"/>
                <a:cs typeface="Aptos"/>
              </a:rPr>
              <a:t>Forecast power actually available</a:t>
            </a:r>
          </a:p>
        </p:txBody>
      </p:sp>
      <p:sp>
        <p:nvSpPr>
          <p:cNvPr id="12" name="">
            <a:extLst xmlns:a="http://schemas.openxmlformats.org/drawingml/2006/main">
              <a:ext uri="{FF2B5EF4-FFF2-40B4-BE49-F238E27FC236}">
                <a16:creationId xmlns:a16="http://schemas.microsoft.com/office/drawing/2014/main" id="{FE978F12-00CE-49C8-B41A-D110C29B39A4}"/>
              </a:ext>
            </a:extLst>
          </p:cNvPr>
          <p:cNvSpPr>
            <a:spLocks xmlns:a="http://schemas.openxmlformats.org/drawingml/2006/main" noGrp="1"/>
          </p:cNvSpPr>
          <p:nvPr/>
        </p:nvSpPr>
        <p:spPr>
          <a:xfrm xmlns:a="http://schemas.openxmlformats.org/drawingml/2006/main">
            <a:off x="1400175" y="4010025"/>
            <a:ext cx="5029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Predict demand and solar/wind ranges. Reduce expected output for snow cover and icing.</a:t>
            </a:r>
          </a:p>
        </p:txBody>
      </p:sp>
      <p:sp>
        <p:nvSpPr>
          <p:cNvPr id="13" name="">
            <a:extLst xmlns:a="http://schemas.openxmlformats.org/drawingml/2006/main">
              <a:ext uri="{FF2B5EF4-FFF2-40B4-BE49-F238E27FC236}">
                <a16:creationId xmlns:a16="http://schemas.microsoft.com/office/drawing/2014/main" id="{52D5A4FC-785A-4680-A2AF-859077832F04}"/>
              </a:ext>
            </a:extLst>
          </p:cNvPr>
          <p:cNvSpPr>
            <a:spLocks xmlns:a="http://schemas.openxmlformats.org/drawingml/2006/main" noGrp="1"/>
          </p:cNvSpPr>
          <p:nvPr/>
        </p:nvSpPr>
        <p:spPr>
          <a:xfrm xmlns:a="http://schemas.openxmlformats.org/drawingml/2006/main">
            <a:off x="609600" y="4686300"/>
            <a:ext cx="628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536777"/>
                </a:solidFill>
                <a:latin typeface="Aptos"/>
                <a:ea typeface="Aptos"/>
                <a:cs typeface="Aptos"/>
              </a:defRPr>
            </a:pPr>
            <a:r>
              <a:rPr sz="2400" b="1">
                <a:solidFill>
                  <a:srgbClr val="536777"/>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47DCB040-F87C-4511-99EE-D6689FA04563}"/>
              </a:ext>
            </a:extLst>
          </p:cNvPr>
          <p:cNvSpPr>
            <a:spLocks xmlns:a="http://schemas.openxmlformats.org/drawingml/2006/main" noGrp="1"/>
          </p:cNvSpPr>
          <p:nvPr/>
        </p:nvSpPr>
        <p:spPr>
          <a:xfrm xmlns:a="http://schemas.openxmlformats.org/drawingml/2006/main">
            <a:off x="1400175" y="46863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C3D"/>
                </a:solidFill>
                <a:latin typeface="Aptos"/>
                <a:ea typeface="Aptos"/>
                <a:cs typeface="Aptos"/>
              </a:defRPr>
            </a:pPr>
            <a:r>
              <a:rPr sz="2025" b="1">
                <a:solidFill>
                  <a:srgbClr val="142C3D"/>
                </a:solidFill>
                <a:latin typeface="Aptos"/>
                <a:ea typeface="Aptos"/>
                <a:cs typeface="Aptos"/>
              </a:rPr>
              <a:t>Choose the operating schedule</a:t>
            </a:r>
          </a:p>
        </p:txBody>
      </p:sp>
      <p:sp>
        <p:nvSpPr>
          <p:cNvPr id="15" name="">
            <a:extLst xmlns:a="http://schemas.openxmlformats.org/drawingml/2006/main">
              <a:ext uri="{FF2B5EF4-FFF2-40B4-BE49-F238E27FC236}">
                <a16:creationId xmlns:a16="http://schemas.microsoft.com/office/drawing/2014/main" id="{812F50D0-3FEB-4C57-9371-64F28CD9D783}"/>
              </a:ext>
            </a:extLst>
          </p:cNvPr>
          <p:cNvSpPr>
            <a:spLocks xmlns:a="http://schemas.openxmlformats.org/drawingml/2006/main" noGrp="1"/>
          </p:cNvSpPr>
          <p:nvPr/>
        </p:nvSpPr>
        <p:spPr>
          <a:xfrm xmlns:a="http://schemas.openxmlformats.org/drawingml/2006/main">
            <a:off x="1400175" y="5114925"/>
            <a:ext cx="5029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Plan generator use and battery reserve. Prioritise critical loads and flag risky sampling windows.</a:t>
            </a:r>
          </a:p>
        </p:txBody>
      </p:sp>
      <p:sp>
        <p:nvSpPr>
          <p:cNvPr id="16" name="">
            <a:extLst xmlns:a="http://schemas.openxmlformats.org/drawingml/2006/main">
              <a:ext uri="{FF2B5EF4-FFF2-40B4-BE49-F238E27FC236}">
                <a16:creationId xmlns:a16="http://schemas.microsoft.com/office/drawing/2014/main" id="{E0214C0E-3168-44B0-A63E-9200943187FA}"/>
              </a:ext>
            </a:extLst>
          </p:cNvPr>
          <p:cNvSpPr>
            <a:spLocks xmlns:a="http://schemas.openxmlformats.org/drawingml/2006/main" noGrp="1"/>
          </p:cNvSpPr>
          <p:nvPr/>
        </p:nvSpPr>
        <p:spPr>
          <a:xfrm xmlns:a="http://schemas.openxmlformats.org/drawingml/2006/main">
            <a:off x="6657975" y="5857875"/>
            <a:ext cx="500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777"/>
                </a:solidFill>
                <a:latin typeface="Aptos"/>
                <a:ea typeface="Aptos"/>
                <a:cs typeface="Aptos"/>
              </a:defRPr>
            </a:pPr>
            <a:r>
              <a:rPr sz="1200" b="1">
                <a:solidFill>
                  <a:srgbClr val="536777"/>
                </a:solidFill>
                <a:latin typeface="Aptos"/>
                <a:ea typeface="Aptos"/>
                <a:cs typeface="Aptos"/>
              </a:rPr>
              <a:t>DIESEL + FUEL      WIND      SOLAR      BATTERY</a:t>
            </a:r>
          </a:p>
        </p:txBody>
      </p:sp>
      <p:sp>
        <p:nvSpPr>
          <p:cNvPr id="17" name="">
            <a:extLst xmlns:a="http://schemas.openxmlformats.org/drawingml/2006/main">
              <a:ext uri="{FF2B5EF4-FFF2-40B4-BE49-F238E27FC236}">
                <a16:creationId xmlns:a16="http://schemas.microsoft.com/office/drawing/2014/main" id="{9E4B749E-240A-4387-B53D-5E9D7C97D42E}"/>
              </a:ext>
            </a:extLst>
          </p:cNvPr>
          <p:cNvSpPr>
            <a:spLocks xmlns:a="http://schemas.openxmlformats.org/drawingml/2006/main" noGrp="1"/>
          </p:cNvSpPr>
          <p:nvPr/>
        </p:nvSpPr>
        <p:spPr>
          <a:xfrm xmlns:a="http://schemas.openxmlformats.org/drawingml/2006/main">
            <a:off x="8258175" y="614362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Illustrative system layout</a:t>
            </a:r>
          </a:p>
        </p:txBody>
      </p:sp>
    </p:spTree>
    <p:extLst>
      <p:ext uri="{BB962C8B-B14F-4D97-AF65-F5344CB8AC3E}">
        <p14:creationId xmlns:p14="http://schemas.microsoft.com/office/powerpoint/2010/main" val="1597469204"/>
      </p:ext>
    </p:extLst>
  </p:cSld>
</p:sld>
</file>

<file path=ppt/slides/slide3.xml><?xml version="1.0" encoding="utf-8"?>
<p:sld xmlns:p="http://schemas.openxmlformats.org/presentationml/2006/main">
  <p:cSld>
    <p:bg>
      <p:bgPr>
        <a:solidFill xmlns:a="http://schemas.openxmlformats.org/drawingml/2006/main">
          <a:srgbClr val="071B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888E6C4-C52F-4ED0-9472-FD2E4FA9B644}"/>
              </a:ext>
            </a:extLst>
          </p:cNvPr>
          <p:cNvSpPr>
            <a:spLocks xmlns:a="http://schemas.openxmlformats.org/drawingml/2006/main" noGrp="1"/>
          </p:cNvSpPr>
          <p:nvPr/>
        </p:nvSpPr>
        <p:spPr>
          <a:xfrm xmlns:a="http://schemas.openxmlformats.org/drawingml/2006/main">
            <a:off x="609600" y="3714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DD7DC"/>
                </a:solidFill>
                <a:latin typeface="Aptos"/>
                <a:ea typeface="Aptos"/>
                <a:cs typeface="Aptos"/>
              </a:defRPr>
            </a:pPr>
            <a:r>
              <a:rPr sz="1275" b="1">
                <a:solidFill>
                  <a:srgbClr val="6DD7DC"/>
                </a:solidFill>
                <a:latin typeface="Aptos"/>
                <a:ea typeface="Aptos"/>
                <a:cs typeface="Aptos"/>
              </a:rPr>
              <a:t>TECHNICAL APPROACH</a:t>
            </a:r>
          </a:p>
        </p:txBody>
      </p:sp>
      <p:sp>
        <p:nvSpPr>
          <p:cNvPr id="2" name="">
            <a:extLst xmlns:a="http://schemas.openxmlformats.org/drawingml/2006/main">
              <a:ext uri="{FF2B5EF4-FFF2-40B4-BE49-F238E27FC236}">
                <a16:creationId xmlns:a16="http://schemas.microsoft.com/office/drawing/2014/main" id="{7E16361D-8010-4BCC-BB01-DD1943D579D3}"/>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4F8FB"/>
                </a:solidFill>
                <a:latin typeface="Aptos"/>
                <a:ea typeface="Aptos"/>
                <a:cs typeface="Aptos"/>
              </a:defRPr>
            </a:pPr>
            <a:r>
              <a:rPr sz="3450" b="1">
                <a:solidFill>
                  <a:srgbClr val="F4F8FB"/>
                </a:solidFill>
                <a:latin typeface="Aptos"/>
                <a:ea typeface="Aptos"/>
                <a:cs typeface="Aptos"/>
              </a:rPr>
              <a:t>A 36-hour plan, refreshed every 6 hours</a:t>
            </a:r>
          </a:p>
        </p:txBody>
      </p:sp>
      <p:sp>
        <p:nvSpPr>
          <p:cNvPr id="3" name="">
            <a:extLst xmlns:a="http://schemas.openxmlformats.org/drawingml/2006/main">
              <a:ext uri="{FF2B5EF4-FFF2-40B4-BE49-F238E27FC236}">
                <a16:creationId xmlns:a16="http://schemas.microsoft.com/office/drawing/2014/main" id="{999BD32C-14C4-4423-9B12-59E073BEA749}"/>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9BBC9"/>
                </a:solidFill>
                <a:latin typeface="Aptos"/>
                <a:ea typeface="Aptos"/>
                <a:cs typeface="Aptos"/>
              </a:defRPr>
            </a:pPr>
            <a:r>
              <a:rPr sz="1050" b="0">
                <a:solidFill>
                  <a:srgbClr val="A9BBC9"/>
                </a:solidFill>
                <a:latin typeface="Aptos"/>
                <a:ea typeface="Aptos"/>
                <a:cs typeface="Aptos"/>
              </a:rPr>
              <a:t>PINK MONSTER</a:t>
            </a:r>
          </a:p>
        </p:txBody>
      </p:sp>
      <p:sp>
        <p:nvSpPr>
          <p:cNvPr id="4" name="">
            <a:extLst xmlns:a="http://schemas.openxmlformats.org/drawingml/2006/main">
              <a:ext uri="{FF2B5EF4-FFF2-40B4-BE49-F238E27FC236}">
                <a16:creationId xmlns:a16="http://schemas.microsoft.com/office/drawing/2014/main" id="{549A358D-F12D-46FF-85EE-36EC93415D27}"/>
              </a:ext>
            </a:extLst>
          </p:cNvPr>
          <p:cNvSpPr>
            <a:spLocks xmlns:a="http://schemas.openxmlformats.org/drawingml/2006/main" noGrp="1"/>
          </p:cNvSpPr>
          <p:nvPr/>
        </p:nvSpPr>
        <p:spPr>
          <a:xfrm xmlns:a="http://schemas.openxmlformats.org/drawingml/2006/main">
            <a:off x="106680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9BBC9"/>
                </a:solidFill>
                <a:latin typeface="Aptos"/>
                <a:ea typeface="Aptos"/>
                <a:cs typeface="Aptos"/>
              </a:defRPr>
            </a:pPr>
            <a:r>
              <a:rPr sz="1050" b="0">
                <a:solidFill>
                  <a:srgbClr val="A9BBC9"/>
                </a:solidFill>
                <a:latin typeface="Aptos"/>
                <a:ea typeface="Aptos"/>
                <a:cs typeface="Aptos"/>
              </a:rPr>
              <a:t>03 / 06</a:t>
            </a:r>
          </a:p>
        </p:txBody>
      </p:sp>
      <p:sp>
        <p:nvSpPr>
          <p:cNvPr id="5" name="">
            <a:extLst xmlns:a="http://schemas.openxmlformats.org/drawingml/2006/main">
              <a:ext uri="{FF2B5EF4-FFF2-40B4-BE49-F238E27FC236}">
                <a16:creationId xmlns:a16="http://schemas.microsoft.com/office/drawing/2014/main" id="{BBDFEB16-912C-42CD-9614-14CB00404FC2}"/>
              </a:ext>
            </a:extLst>
          </p:cNvPr>
          <p:cNvSpPr>
            <a:spLocks xmlns:a="http://schemas.openxmlformats.org/drawingml/2006/main" noGrp="1"/>
          </p:cNvSpPr>
          <p:nvPr/>
        </p:nvSpPr>
        <p:spPr>
          <a:xfrm xmlns:a="http://schemas.openxmlformats.org/drawingml/2006/main">
            <a:off x="609600" y="209550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DD7DC"/>
                </a:solidFill>
                <a:latin typeface="Aptos"/>
                <a:ea typeface="Aptos"/>
                <a:cs typeface="Aptos"/>
              </a:defRPr>
            </a:pPr>
            <a:r>
              <a:rPr sz="3600" b="1">
                <a:solidFill>
                  <a:srgbClr val="6DD7DC"/>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9D2612AE-B6AB-4BB4-A403-B8B6DF1E30C3}"/>
              </a:ext>
            </a:extLst>
          </p:cNvPr>
          <p:cNvSpPr>
            <a:spLocks xmlns:a="http://schemas.openxmlformats.org/drawingml/2006/main" noGrp="1"/>
          </p:cNvSpPr>
          <p:nvPr/>
        </p:nvSpPr>
        <p:spPr>
          <a:xfrm xmlns:a="http://schemas.openxmlformats.org/drawingml/2006/main">
            <a:off x="609600" y="286702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4F8FB"/>
                </a:solidFill>
                <a:latin typeface="Aptos"/>
                <a:ea typeface="Aptos"/>
                <a:cs typeface="Aptos"/>
              </a:defRPr>
            </a:pPr>
            <a:r>
              <a:rPr sz="2325" b="1">
                <a:solidFill>
                  <a:srgbClr val="F4F8FB"/>
                </a:solidFill>
                <a:latin typeface="Aptos"/>
                <a:ea typeface="Aptos"/>
                <a:cs typeface="Aptos"/>
              </a:rPr>
              <a:t>Model</a:t>
            </a:r>
          </a:p>
        </p:txBody>
      </p:sp>
      <p:sp>
        <p:nvSpPr>
          <p:cNvPr id="7" name="">
            <a:extLst xmlns:a="http://schemas.openxmlformats.org/drawingml/2006/main">
              <a:ext uri="{FF2B5EF4-FFF2-40B4-BE49-F238E27FC236}">
                <a16:creationId xmlns:a16="http://schemas.microsoft.com/office/drawing/2014/main" id="{5D33637F-C152-4BCC-B9E7-DE836E421C81}"/>
              </a:ext>
            </a:extLst>
          </p:cNvPr>
          <p:cNvSpPr>
            <a:spLocks xmlns:a="http://schemas.openxmlformats.org/drawingml/2006/main" noGrp="1"/>
          </p:cNvSpPr>
          <p:nvPr/>
        </p:nvSpPr>
        <p:spPr>
          <a:xfrm xmlns:a="http://schemas.openxmlformats.org/drawingml/2006/main">
            <a:off x="609600" y="3476625"/>
            <a:ext cx="2362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Weather history</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Station assumptions</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Fuel and battery state</a:t>
            </a:r>
          </a:p>
        </p:txBody>
      </p:sp>
      <p:sp>
        <p:nvSpPr>
          <p:cNvPr id="8" name="">
            <a:extLst xmlns:a="http://schemas.openxmlformats.org/drawingml/2006/main">
              <a:ext uri="{FF2B5EF4-FFF2-40B4-BE49-F238E27FC236}">
                <a16:creationId xmlns:a16="http://schemas.microsoft.com/office/drawing/2014/main" id="{9347E07F-DCCA-48E1-A098-9825309FF159}"/>
              </a:ext>
            </a:extLst>
          </p:cNvPr>
          <p:cNvSpPr>
            <a:spLocks xmlns:a="http://schemas.openxmlformats.org/drawingml/2006/main" noGrp="1"/>
          </p:cNvSpPr>
          <p:nvPr/>
        </p:nvSpPr>
        <p:spPr>
          <a:xfrm xmlns:a="http://schemas.openxmlformats.org/drawingml/2006/main">
            <a:off x="3448050" y="209550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DD7DC"/>
                </a:solidFill>
                <a:latin typeface="Aptos"/>
                <a:ea typeface="Aptos"/>
                <a:cs typeface="Aptos"/>
              </a:defRPr>
            </a:pPr>
            <a:r>
              <a:rPr sz="3600" b="1">
                <a:solidFill>
                  <a:srgbClr val="6DD7DC"/>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94027A9C-5FA9-4F10-9F38-45DB5E19CE1B}"/>
              </a:ext>
            </a:extLst>
          </p:cNvPr>
          <p:cNvSpPr>
            <a:spLocks xmlns:a="http://schemas.openxmlformats.org/drawingml/2006/main" noGrp="1"/>
          </p:cNvSpPr>
          <p:nvPr/>
        </p:nvSpPr>
        <p:spPr>
          <a:xfrm xmlns:a="http://schemas.openxmlformats.org/drawingml/2006/main">
            <a:off x="3448050" y="286702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4F8FB"/>
                </a:solidFill>
                <a:latin typeface="Aptos"/>
                <a:ea typeface="Aptos"/>
                <a:cs typeface="Aptos"/>
              </a:defRPr>
            </a:pPr>
            <a:r>
              <a:rPr sz="2325" b="1">
                <a:solidFill>
                  <a:srgbClr val="F4F8FB"/>
                </a:solidFill>
                <a:latin typeface="Aptos"/>
                <a:ea typeface="Aptos"/>
                <a:cs typeface="Aptos"/>
              </a:rPr>
              <a:t>Forecast</a:t>
            </a:r>
          </a:p>
        </p:txBody>
      </p:sp>
      <p:sp>
        <p:nvSpPr>
          <p:cNvPr id="10" name="">
            <a:extLst xmlns:a="http://schemas.openxmlformats.org/drawingml/2006/main">
              <a:ext uri="{FF2B5EF4-FFF2-40B4-BE49-F238E27FC236}">
                <a16:creationId xmlns:a16="http://schemas.microsoft.com/office/drawing/2014/main" id="{54E705DA-66D7-494C-9C0C-C9054D0A28A1}"/>
              </a:ext>
            </a:extLst>
          </p:cNvPr>
          <p:cNvSpPr>
            <a:spLocks xmlns:a="http://schemas.openxmlformats.org/drawingml/2006/main" noGrp="1"/>
          </p:cNvSpPr>
          <p:nvPr/>
        </p:nvSpPr>
        <p:spPr>
          <a:xfrm xmlns:a="http://schemas.openxmlformats.org/drawingml/2006/main">
            <a:off x="3448050" y="3476625"/>
            <a:ext cx="2362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Demand and renewables</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Likely values plus</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uncertainty ranges</a:t>
            </a:r>
          </a:p>
        </p:txBody>
      </p:sp>
      <p:sp>
        <p:nvSpPr>
          <p:cNvPr id="11" name="">
            <a:extLst xmlns:a="http://schemas.openxmlformats.org/drawingml/2006/main">
              <a:ext uri="{FF2B5EF4-FFF2-40B4-BE49-F238E27FC236}">
                <a16:creationId xmlns:a16="http://schemas.microsoft.com/office/drawing/2014/main" id="{8C260C75-CA91-4E5F-A868-CD1448FB645F}"/>
              </a:ext>
            </a:extLst>
          </p:cNvPr>
          <p:cNvSpPr>
            <a:spLocks xmlns:a="http://schemas.openxmlformats.org/drawingml/2006/main" noGrp="1"/>
          </p:cNvSpPr>
          <p:nvPr/>
        </p:nvSpPr>
        <p:spPr>
          <a:xfrm xmlns:a="http://schemas.openxmlformats.org/drawingml/2006/main">
            <a:off x="6286500" y="209550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DD7DC"/>
                </a:solidFill>
                <a:latin typeface="Aptos"/>
                <a:ea typeface="Aptos"/>
                <a:cs typeface="Aptos"/>
              </a:defRPr>
            </a:pPr>
            <a:r>
              <a:rPr sz="3600" b="1">
                <a:solidFill>
                  <a:srgbClr val="6DD7DC"/>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63D3B33D-20BA-4102-A9A0-FD7825FC03F0}"/>
              </a:ext>
            </a:extLst>
          </p:cNvPr>
          <p:cNvSpPr>
            <a:spLocks xmlns:a="http://schemas.openxmlformats.org/drawingml/2006/main" noGrp="1"/>
          </p:cNvSpPr>
          <p:nvPr/>
        </p:nvSpPr>
        <p:spPr>
          <a:xfrm xmlns:a="http://schemas.openxmlformats.org/drawingml/2006/main">
            <a:off x="6286500" y="286702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4F8FB"/>
                </a:solidFill>
                <a:latin typeface="Aptos"/>
                <a:ea typeface="Aptos"/>
                <a:cs typeface="Aptos"/>
              </a:defRPr>
            </a:pPr>
            <a:r>
              <a:rPr sz="2325" b="1">
                <a:solidFill>
                  <a:srgbClr val="F4F8FB"/>
                </a:solidFill>
                <a:latin typeface="Aptos"/>
                <a:ea typeface="Aptos"/>
                <a:cs typeface="Aptos"/>
              </a:rPr>
              <a:t>Schedule</a:t>
            </a:r>
          </a:p>
        </p:txBody>
      </p:sp>
      <p:sp>
        <p:nvSpPr>
          <p:cNvPr id="13" name="">
            <a:extLst xmlns:a="http://schemas.openxmlformats.org/drawingml/2006/main">
              <a:ext uri="{FF2B5EF4-FFF2-40B4-BE49-F238E27FC236}">
                <a16:creationId xmlns:a16="http://schemas.microsoft.com/office/drawing/2014/main" id="{DD46B338-C9A7-4466-91E6-33CEC9165D0D}"/>
              </a:ext>
            </a:extLst>
          </p:cNvPr>
          <p:cNvSpPr>
            <a:spLocks xmlns:a="http://schemas.openxmlformats.org/drawingml/2006/main" noGrp="1"/>
          </p:cNvSpPr>
          <p:nvPr/>
        </p:nvSpPr>
        <p:spPr>
          <a:xfrm xmlns:a="http://schemas.openxmlformats.org/drawingml/2006/main">
            <a:off x="6286500" y="3476625"/>
            <a:ext cx="2362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Generator operation</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Battery use and reserve</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Flexible load timing</a:t>
            </a:r>
          </a:p>
        </p:txBody>
      </p:sp>
      <p:sp>
        <p:nvSpPr>
          <p:cNvPr id="14" name="">
            <a:extLst xmlns:a="http://schemas.openxmlformats.org/drawingml/2006/main">
              <a:ext uri="{FF2B5EF4-FFF2-40B4-BE49-F238E27FC236}">
                <a16:creationId xmlns:a16="http://schemas.microsoft.com/office/drawing/2014/main" id="{D57F5EE1-FB2E-49CD-8CC7-68CB32263EC2}"/>
              </a:ext>
            </a:extLst>
          </p:cNvPr>
          <p:cNvSpPr>
            <a:spLocks xmlns:a="http://schemas.openxmlformats.org/drawingml/2006/main" noGrp="1"/>
          </p:cNvSpPr>
          <p:nvPr/>
        </p:nvSpPr>
        <p:spPr>
          <a:xfrm xmlns:a="http://schemas.openxmlformats.org/drawingml/2006/main">
            <a:off x="9124950" y="209550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DD7DC"/>
                </a:solidFill>
                <a:latin typeface="Aptos"/>
                <a:ea typeface="Aptos"/>
                <a:cs typeface="Aptos"/>
              </a:defRPr>
            </a:pPr>
            <a:r>
              <a:rPr sz="3600" b="1">
                <a:solidFill>
                  <a:srgbClr val="6DD7DC"/>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F81D5D50-5476-4565-9ABF-A27241EA7DD0}"/>
              </a:ext>
            </a:extLst>
          </p:cNvPr>
          <p:cNvSpPr>
            <a:spLocks xmlns:a="http://schemas.openxmlformats.org/drawingml/2006/main" noGrp="1"/>
          </p:cNvSpPr>
          <p:nvPr/>
        </p:nvSpPr>
        <p:spPr>
          <a:xfrm xmlns:a="http://schemas.openxmlformats.org/drawingml/2006/main">
            <a:off x="9124950" y="2867025"/>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4F8FB"/>
                </a:solidFill>
                <a:latin typeface="Aptos"/>
                <a:ea typeface="Aptos"/>
                <a:cs typeface="Aptos"/>
              </a:defRPr>
            </a:pPr>
            <a:r>
              <a:rPr sz="2325" b="1">
                <a:solidFill>
                  <a:srgbClr val="F4F8FB"/>
                </a:solidFill>
                <a:latin typeface="Aptos"/>
                <a:ea typeface="Aptos"/>
                <a:cs typeface="Aptos"/>
              </a:rPr>
              <a:t>Review</a:t>
            </a:r>
          </a:p>
        </p:txBody>
      </p:sp>
      <p:sp>
        <p:nvSpPr>
          <p:cNvPr id="16" name="">
            <a:extLst xmlns:a="http://schemas.openxmlformats.org/drawingml/2006/main">
              <a:ext uri="{FF2B5EF4-FFF2-40B4-BE49-F238E27FC236}">
                <a16:creationId xmlns:a16="http://schemas.microsoft.com/office/drawing/2014/main" id="{11ECC6AC-370B-47CB-85A7-07F8DEF2B0E9}"/>
              </a:ext>
            </a:extLst>
          </p:cNvPr>
          <p:cNvSpPr>
            <a:spLocks xmlns:a="http://schemas.openxmlformats.org/drawingml/2006/main" noGrp="1"/>
          </p:cNvSpPr>
          <p:nvPr/>
        </p:nvSpPr>
        <p:spPr>
          <a:xfrm xmlns:a="http://schemas.openxmlformats.org/drawingml/2006/main">
            <a:off x="9124950" y="3476625"/>
            <a:ext cx="2362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Offline console</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Fuel remaining</a:t>
            </a:r>
          </a:p>
          <a:p xmlns:a="http://schemas.openxmlformats.org/drawingml/2006/main">
            <a:pPr>
              <a:defRPr sz="1725" b="0">
                <a:solidFill>
                  <a:srgbClr val="A9BBC9"/>
                </a:solidFill>
                <a:latin typeface="Aptos"/>
                <a:ea typeface="Aptos"/>
                <a:cs typeface="Aptos"/>
              </a:defRPr>
            </a:pPr>
            <a:r>
              <a:rPr sz="1725" b="0">
                <a:solidFill>
                  <a:srgbClr val="A9BBC9"/>
                </a:solidFill>
                <a:latin typeface="Aptos"/>
                <a:ea typeface="Aptos"/>
                <a:cs typeface="Aptos"/>
              </a:rPr>
              <a:t>Critical-load shortfalls</a:t>
            </a:r>
          </a:p>
        </p:txBody>
      </p:sp>
      <p:sp>
        <p:nvSpPr>
          <p:cNvPr id="17" name="">
            <a:extLst xmlns:a="http://schemas.openxmlformats.org/drawingml/2006/main">
              <a:ext uri="{FF2B5EF4-FFF2-40B4-BE49-F238E27FC236}">
                <a16:creationId xmlns:a16="http://schemas.microsoft.com/office/drawing/2014/main" id="{FA5BC0EB-D0AA-4B18-ABD9-7DDA2F5460DC}"/>
              </a:ext>
            </a:extLst>
          </p:cNvPr>
          <p:cNvSpPr>
            <a:spLocks xmlns:a="http://schemas.openxmlformats.org/drawingml/2006/main" noGrp="1"/>
          </p:cNvSpPr>
          <p:nvPr/>
        </p:nvSpPr>
        <p:spPr>
          <a:xfrm xmlns:a="http://schemas.openxmlformats.org/drawingml/2006/main">
            <a:off x="609600" y="5095875"/>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4F8FB"/>
                </a:solidFill>
                <a:latin typeface="Aptos"/>
                <a:ea typeface="Aptos"/>
                <a:cs typeface="Aptos"/>
              </a:defRPr>
            </a:pPr>
            <a:r>
              <a:rPr sz="2250" b="1">
                <a:solidFill>
                  <a:srgbClr val="F4F8FB"/>
                </a:solidFill>
                <a:latin typeface="Aptos"/>
                <a:ea typeface="Aptos"/>
                <a:cs typeface="Aptos"/>
              </a:rPr>
              <a:t>AI sets the forecast range. The optimiser uses that range to size reserve.</a:t>
            </a:r>
          </a:p>
        </p:txBody>
      </p:sp>
      <p:sp>
        <p:nvSpPr>
          <p:cNvPr id="18" name="">
            <a:extLst xmlns:a="http://schemas.openxmlformats.org/drawingml/2006/main">
              <a:ext uri="{FF2B5EF4-FFF2-40B4-BE49-F238E27FC236}">
                <a16:creationId xmlns:a16="http://schemas.microsoft.com/office/drawing/2014/main" id="{388C8D06-4F87-4AC2-B437-55EEE07CEAF1}"/>
              </a:ext>
            </a:extLst>
          </p:cNvPr>
          <p:cNvSpPr>
            <a:spLocks xmlns:a="http://schemas.openxmlformats.org/drawingml/2006/main" noGrp="1"/>
          </p:cNvSpPr>
          <p:nvPr/>
        </p:nvSpPr>
        <p:spPr>
          <a:xfrm xmlns:a="http://schemas.openxmlformats.org/drawingml/2006/main">
            <a:off x="609600" y="59150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DD7DC"/>
                </a:solidFill>
                <a:latin typeface="Aptos"/>
                <a:ea typeface="Aptos"/>
                <a:cs typeface="Aptos"/>
              </a:defRPr>
            </a:pPr>
            <a:r>
              <a:rPr sz="1425" b="0">
                <a:solidFill>
                  <a:srgbClr val="6DD7DC"/>
                </a:solidFill>
                <a:latin typeface="Aptos"/>
                <a:ea typeface="Aptos"/>
                <a:cs typeface="Aptos"/>
              </a:rPr>
              <a:t>Python     /     ERA5 + pvlib     /     LightGBM     /     PuLP + HiGHS     /     Plotly</a:t>
            </a:r>
          </a:p>
        </p:txBody>
      </p:sp>
    </p:spTree>
    <p:extLst>
      <p:ext uri="{BB962C8B-B14F-4D97-AF65-F5344CB8AC3E}">
        <p14:creationId xmlns:p14="http://schemas.microsoft.com/office/powerpoint/2010/main" val="549341689"/>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9DE9FD-A98E-4596-989C-EB525697DA71}"/>
              </a:ext>
            </a:extLst>
          </p:cNvPr>
          <p:cNvSpPr>
            <a:spLocks xmlns:a="http://schemas.openxmlformats.org/drawingml/2006/main" noGrp="1"/>
          </p:cNvSpPr>
          <p:nvPr/>
        </p:nvSpPr>
        <p:spPr>
          <a:xfrm xmlns:a="http://schemas.openxmlformats.org/drawingml/2006/main">
            <a:off x="609600" y="3714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36777"/>
                </a:solidFill>
                <a:latin typeface="Aptos"/>
                <a:ea typeface="Aptos"/>
                <a:cs typeface="Aptos"/>
              </a:defRPr>
            </a:pPr>
            <a:r>
              <a:rPr sz="1275" b="1">
                <a:solidFill>
                  <a:srgbClr val="536777"/>
                </a:solidFill>
                <a:latin typeface="Aptos"/>
                <a:ea typeface="Aptos"/>
                <a:cs typeface="Aptos"/>
              </a:rPr>
              <a:t>FEASIBILITY AND VIABILITY</a:t>
            </a:r>
          </a:p>
        </p:txBody>
      </p:sp>
      <p:sp>
        <p:nvSpPr>
          <p:cNvPr id="2" name="">
            <a:extLst xmlns:a="http://schemas.openxmlformats.org/drawingml/2006/main">
              <a:ext uri="{FF2B5EF4-FFF2-40B4-BE49-F238E27FC236}">
                <a16:creationId xmlns:a16="http://schemas.microsoft.com/office/drawing/2014/main" id="{ED4D9C67-5E00-41B8-AF49-E9C78FA04F70}"/>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C3D"/>
                </a:solidFill>
                <a:latin typeface="Aptos"/>
                <a:ea typeface="Aptos"/>
                <a:cs typeface="Aptos"/>
              </a:defRPr>
            </a:pPr>
            <a:r>
              <a:rPr sz="3450" b="1">
                <a:solidFill>
                  <a:srgbClr val="142C3D"/>
                </a:solidFill>
                <a:latin typeface="Aptos"/>
                <a:ea typeface="Aptos"/>
                <a:cs typeface="Aptos"/>
              </a:rPr>
              <a:t>An offline prototype for difficult conditions</a:t>
            </a:r>
          </a:p>
        </p:txBody>
      </p:sp>
      <p:sp>
        <p:nvSpPr>
          <p:cNvPr id="3" name="">
            <a:extLst xmlns:a="http://schemas.openxmlformats.org/drawingml/2006/main">
              <a:ext uri="{FF2B5EF4-FFF2-40B4-BE49-F238E27FC236}">
                <a16:creationId xmlns:a16="http://schemas.microsoft.com/office/drawing/2014/main" id="{CC6FB5F2-1140-403C-9FBB-03B4E20DDA8C}"/>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PINK MONSTER</a:t>
            </a:r>
          </a:p>
        </p:txBody>
      </p:sp>
      <p:sp>
        <p:nvSpPr>
          <p:cNvPr id="4" name="">
            <a:extLst xmlns:a="http://schemas.openxmlformats.org/drawingml/2006/main">
              <a:ext uri="{FF2B5EF4-FFF2-40B4-BE49-F238E27FC236}">
                <a16:creationId xmlns:a16="http://schemas.microsoft.com/office/drawing/2014/main" id="{93DA9333-B28C-4E77-B770-110A095B2630}"/>
              </a:ext>
            </a:extLst>
          </p:cNvPr>
          <p:cNvSpPr>
            <a:spLocks xmlns:a="http://schemas.openxmlformats.org/drawingml/2006/main" noGrp="1"/>
          </p:cNvSpPr>
          <p:nvPr/>
        </p:nvSpPr>
        <p:spPr>
          <a:xfrm xmlns:a="http://schemas.openxmlformats.org/drawingml/2006/main">
            <a:off x="106680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04 / 06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45cb7cb2d054f43"/>
          <a:srcRect xmlns:a="http://schemas.openxmlformats.org/drawingml/2006/main" l="0" t="21615" r="0" b="21615"/>
          <a:stretch xmlns:a="http://schemas.openxmlformats.org/drawingml/2006/main">
            <a:fillRect l="0" t="0" r="0" b="0"/>
          </a:stretch>
        </p:blipFill>
        <p:spPr>
          <a:xfrm xmlns:a="http://schemas.openxmlformats.org/drawingml/2006/main">
            <a:off x="609600" y="1914525"/>
            <a:ext cx="10972800" cy="2076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2ACEDA2-25EA-432D-BA24-18848DF3BFC5}"/>
              </a:ext>
            </a:extLst>
          </p:cNvPr>
          <p:cNvSpPr>
            <a:spLocks xmlns:a="http://schemas.openxmlformats.org/drawingml/2006/main" noGrp="1"/>
          </p:cNvSpPr>
          <p:nvPr/>
        </p:nvSpPr>
        <p:spPr>
          <a:xfrm xmlns:a="http://schemas.openxmlformats.org/drawingml/2006/main">
            <a:off x="733425" y="3657600"/>
            <a:ext cx="985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Snow, icing and equipment failure shape the test cases.</a:t>
            </a:r>
          </a:p>
        </p:txBody>
      </p:sp>
      <p:sp>
        <p:nvSpPr>
          <p:cNvPr id="7" name="">
            <a:extLst xmlns:a="http://schemas.openxmlformats.org/drawingml/2006/main">
              <a:ext uri="{FF2B5EF4-FFF2-40B4-BE49-F238E27FC236}">
                <a16:creationId xmlns:a16="http://schemas.microsoft.com/office/drawing/2014/main" id="{803E0542-44CA-461A-9AA5-8085CF6C0308}"/>
              </a:ext>
            </a:extLst>
          </p:cNvPr>
          <p:cNvSpPr>
            <a:spLocks xmlns:a="http://schemas.openxmlformats.org/drawingml/2006/main" noGrp="1"/>
          </p:cNvSpPr>
          <p:nvPr/>
        </p:nvSpPr>
        <p:spPr>
          <a:xfrm xmlns:a="http://schemas.openxmlformats.org/drawingml/2006/main">
            <a:off x="9963150" y="1990725"/>
            <a:ext cx="1504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F4F8FB"/>
                </a:solidFill>
                <a:latin typeface="Aptos"/>
                <a:ea typeface="Aptos"/>
                <a:cs typeface="Aptos"/>
              </a:defRPr>
            </a:pPr>
            <a:r>
              <a:rPr sz="975" b="0">
                <a:solidFill>
                  <a:srgbClr val="F4F8FB"/>
                </a:solidFill>
                <a:latin typeface="Aptos"/>
                <a:ea typeface="Aptos"/>
                <a:cs typeface="Aptos"/>
              </a:rPr>
              <a:t>Concept illustration</a:t>
            </a:r>
          </a:p>
        </p:txBody>
      </p:sp>
      <p:graphicFrame>
        <p:nvGraphicFramePr>
          <p:cNvPr id="16" name=""/>
          <p:cNvGraphicFramePr/>
          <p:nvPr/>
        </p:nvGraphicFramePr>
        <p:xfrm>
          <a:off xmlns:a="http://schemas.openxmlformats.org/drawingml/2006/main" x="609600" y="4267200"/>
          <a:ext xmlns:a="http://schemas.openxmlformats.org/drawingml/2006/main" cx="10972800" cy="1790700"/>
        </p:xfrm>
        <a:graphic xmlns:a="http://schemas.openxmlformats.org/drawingml/2006/main">
          <a:graphicData uri="http://schemas.openxmlformats.org/drawingml/2006/table">
            <a:tbl>
              <a:tblPr/>
              <a:tblGrid>
                <a:gridCol w="5314950"/>
                <a:gridCol w="5657850"/>
              </a:tblGrid>
              <a:tr h="447675">
                <a:tc>
                  <a:txBody>
                    <a:bodyPr/>
                    <a:lstStyle/>
                    <a:p>
                      <a:r>
                        <a:rPr sz="1575" b="1">
                          <a:solidFill>
                            <a:srgbClr val="142C3D"/>
                          </a:solidFill>
                          <a:latin typeface="Aptos"/>
                          <a:ea typeface="Aptos"/>
                          <a:cs typeface="Aptos"/>
                        </a:rPr>
                        <a:t>What we can demonstrate</a:t>
                      </a:r>
                    </a:p>
                  </a:txBody>
                  <a:tcPr marL="91440" marR="91440" marT="45720" marB="45720">
                    <a:solidFill>
                      <a:srgbClr val="E0EAF0"/>
                    </a:solidFill>
                  </a:tcPr>
                </a:tc>
                <a:tc>
                  <a:txBody>
                    <a:bodyPr/>
                    <a:lstStyle/>
                    <a:p>
                      <a:r>
                        <a:rPr sz="1575" b="1">
                          <a:solidFill>
                            <a:srgbClr val="142C3D"/>
                          </a:solidFill>
                          <a:latin typeface="Aptos"/>
                          <a:ea typeface="Aptos"/>
                          <a:cs typeface="Aptos"/>
                        </a:rPr>
                        <a:t>What needs validation</a:t>
                      </a:r>
                    </a:p>
                  </a:txBody>
                  <a:tcPr marL="91440" marR="91440" marT="45720" marB="45720">
                    <a:solidFill>
                      <a:srgbClr val="E0EAF0"/>
                    </a:solidFill>
                  </a:tcPr>
                </a:tc>
              </a:tr>
              <a:tr h="447675">
                <a:tc>
                  <a:txBody>
                    <a:bodyPr/>
                    <a:lstStyle/>
                    <a:p>
                      <a:r>
                        <a:rPr sz="1800" b="0">
                          <a:solidFill>
                            <a:srgbClr val="142C3D"/>
                          </a:solidFill>
                          <a:latin typeface="Aptos"/>
                          <a:ea typeface="Aptos"/>
                          <a:cs typeface="Aptos"/>
                        </a:rPr>
                        <a:t>Offline replay and controller comparison</a:t>
                      </a:r>
                    </a:p>
                  </a:txBody>
                  <a:tcPr marL="91440" marR="91440" marT="45720" marB="45720">
                    <a:solidFill>
                      <a:srgbClr val="F4F8FB"/>
                    </a:solidFill>
                  </a:tcPr>
                </a:tc>
                <a:tc>
                  <a:txBody>
                    <a:bodyPr/>
                    <a:lstStyle/>
                    <a:p>
                      <a:r>
                        <a:rPr sz="1800" b="0">
                          <a:solidFill>
                            <a:srgbClr val="142C3D"/>
                          </a:solidFill>
                          <a:latin typeface="Aptos"/>
                          <a:ea typeface="Aptos"/>
                          <a:cs typeface="Aptos"/>
                        </a:rPr>
                        <a:t>More weather years, seeds and stress tests</a:t>
                      </a:r>
                    </a:p>
                  </a:txBody>
                  <a:tcPr marL="91440" marR="91440" marT="45720" marB="45720">
                    <a:solidFill>
                      <a:srgbClr val="F4F8FB"/>
                    </a:solidFill>
                  </a:tcPr>
                </a:tc>
              </a:tr>
              <a:tr h="447675">
                <a:tc>
                  <a:txBody>
                    <a:bodyPr/>
                    <a:lstStyle/>
                    <a:p>
                      <a:r>
                        <a:rPr sz="1800" b="0">
                          <a:solidFill>
                            <a:srgbClr val="142C3D"/>
                          </a:solidFill>
                          <a:latin typeface="Aptos"/>
                          <a:ea typeface="Aptos"/>
                          <a:cs typeface="Aptos"/>
                        </a:rPr>
                        <a:t>Documented station and equipment model</a:t>
                      </a:r>
                    </a:p>
                  </a:txBody>
                  <a:tcPr marL="91440" marR="91440" marT="45720" marB="45720">
                    <a:solidFill>
                      <a:srgbClr val="F4F8FB"/>
                    </a:solidFill>
                  </a:tcPr>
                </a:tc>
                <a:tc>
                  <a:txBody>
                    <a:bodyPr/>
                    <a:lstStyle/>
                    <a:p>
                      <a:r>
                        <a:rPr sz="1800" b="0">
                          <a:solidFill>
                            <a:srgbClr val="142C3D"/>
                          </a:solidFill>
                          <a:latin typeface="Aptos"/>
                          <a:ea typeface="Aptos"/>
                          <a:cs typeface="Aptos"/>
                        </a:rPr>
                        <a:t>Measured station loads and calibrated ratings</a:t>
                      </a:r>
                    </a:p>
                  </a:txBody>
                  <a:tcPr marL="91440" marR="91440" marT="45720" marB="45720">
                    <a:solidFill>
                      <a:srgbClr val="F4F8FB"/>
                    </a:solidFill>
                  </a:tcPr>
                </a:tc>
              </a:tr>
              <a:tr h="447675">
                <a:tc>
                  <a:txBody>
                    <a:bodyPr/>
                    <a:lstStyle/>
                    <a:p>
                      <a:r>
                        <a:rPr sz="1800" b="0">
                          <a:solidFill>
                            <a:srgbClr val="142C3D"/>
                          </a:solidFill>
                          <a:latin typeface="Aptos"/>
                          <a:ea typeface="Aptos"/>
                          <a:cs typeface="Aptos"/>
                        </a:rPr>
                        <a:t>Generator and battery operating schedules</a:t>
                      </a:r>
                    </a:p>
                  </a:txBody>
                  <a:tcPr marL="91440" marR="91440" marT="45720" marB="45720">
                    <a:solidFill>
                      <a:srgbClr val="F4F8FB"/>
                    </a:solidFill>
                  </a:tcPr>
                </a:tc>
                <a:tc>
                  <a:txBody>
                    <a:bodyPr/>
                    <a:lstStyle/>
                    <a:p>
                      <a:r>
                        <a:rPr sz="1800" b="0">
                          <a:solidFill>
                            <a:srgbClr val="142C3D"/>
                          </a:solidFill>
                          <a:latin typeface="Aptos"/>
                          <a:ea typeface="Aptos"/>
                          <a:cs typeface="Aptos"/>
                        </a:rPr>
                        <a:t>Operator review and hardware testing</a:t>
                      </a:r>
                    </a:p>
                  </a:txBody>
                  <a:tcPr marL="91440" marR="91440" marT="45720" marB="45720">
                    <a:solidFill>
                      <a:srgbClr val="F4F8FB"/>
                    </a:solidFill>
                  </a:tcPr>
                </a:tc>
              </a:tr>
            </a:tbl>
          </a:graphicData>
        </a:graphic>
      </p:graphicFrame>
    </p:spTree>
    <p:extLst>
      <p:ext uri="{BB962C8B-B14F-4D97-AF65-F5344CB8AC3E}">
        <p14:creationId xmlns:p14="http://schemas.microsoft.com/office/powerpoint/2010/main" val="1102711931"/>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40D410-2BBA-4D94-A089-164B7B1398A7}"/>
              </a:ext>
            </a:extLst>
          </p:cNvPr>
          <p:cNvSpPr>
            <a:spLocks xmlns:a="http://schemas.openxmlformats.org/drawingml/2006/main" noGrp="1"/>
          </p:cNvSpPr>
          <p:nvPr/>
        </p:nvSpPr>
        <p:spPr>
          <a:xfrm xmlns:a="http://schemas.openxmlformats.org/drawingml/2006/main">
            <a:off x="609600" y="3714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36777"/>
                </a:solidFill>
                <a:latin typeface="Aptos"/>
                <a:ea typeface="Aptos"/>
                <a:cs typeface="Aptos"/>
              </a:defRPr>
            </a:pPr>
            <a:r>
              <a:rPr sz="1275" b="1">
                <a:solidFill>
                  <a:srgbClr val="536777"/>
                </a:solidFill>
                <a:latin typeface="Aptos"/>
                <a:ea typeface="Aptos"/>
                <a:cs typeface="Aptos"/>
              </a:rPr>
              <a:t>IMPACT AND BENEFITS</a:t>
            </a:r>
          </a:p>
        </p:txBody>
      </p:sp>
      <p:sp>
        <p:nvSpPr>
          <p:cNvPr id="2" name="">
            <a:extLst xmlns:a="http://schemas.openxmlformats.org/drawingml/2006/main">
              <a:ext uri="{FF2B5EF4-FFF2-40B4-BE49-F238E27FC236}">
                <a16:creationId xmlns:a16="http://schemas.microsoft.com/office/drawing/2014/main" id="{01AB1BAB-7CB7-4ED4-BE81-8A714ACF3BE3}"/>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C3D"/>
                </a:solidFill>
                <a:latin typeface="Aptos"/>
                <a:ea typeface="Aptos"/>
                <a:cs typeface="Aptos"/>
              </a:defRPr>
            </a:pPr>
            <a:r>
              <a:rPr sz="3450" b="1">
                <a:solidFill>
                  <a:srgbClr val="142C3D"/>
                </a:solidFill>
                <a:latin typeface="Aptos"/>
                <a:ea typeface="Aptos"/>
                <a:cs typeface="Aptos"/>
              </a:rPr>
              <a:t>8,615 litres remained after the simulated season</a:t>
            </a:r>
          </a:p>
        </p:txBody>
      </p:sp>
      <p:sp>
        <p:nvSpPr>
          <p:cNvPr id="3" name="">
            <a:extLst xmlns:a="http://schemas.openxmlformats.org/drawingml/2006/main">
              <a:ext uri="{FF2B5EF4-FFF2-40B4-BE49-F238E27FC236}">
                <a16:creationId xmlns:a16="http://schemas.microsoft.com/office/drawing/2014/main" id="{AE919107-1843-4A3B-92E5-985BDBCD8599}"/>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PINK MONSTER</a:t>
            </a:r>
          </a:p>
        </p:txBody>
      </p:sp>
      <p:sp>
        <p:nvSpPr>
          <p:cNvPr id="4" name="">
            <a:extLst xmlns:a="http://schemas.openxmlformats.org/drawingml/2006/main">
              <a:ext uri="{FF2B5EF4-FFF2-40B4-BE49-F238E27FC236}">
                <a16:creationId xmlns:a16="http://schemas.microsoft.com/office/drawing/2014/main" id="{336FB67F-77B8-4A9C-B240-6A666F9E48A1}"/>
              </a:ext>
            </a:extLst>
          </p:cNvPr>
          <p:cNvSpPr>
            <a:spLocks xmlns:a="http://schemas.openxmlformats.org/drawingml/2006/main" noGrp="1"/>
          </p:cNvSpPr>
          <p:nvPr/>
        </p:nvSpPr>
        <p:spPr>
          <a:xfrm xmlns:a="http://schemas.openxmlformats.org/drawingml/2006/main">
            <a:off x="106680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05 / 06</a:t>
            </a:r>
          </a:p>
        </p:txBody>
      </p:sp>
      <p:sp>
        <p:nvSpPr>
          <p:cNvPr id="5" name="">
            <a:extLst xmlns:a="http://schemas.openxmlformats.org/drawingml/2006/main">
              <a:ext uri="{FF2B5EF4-FFF2-40B4-BE49-F238E27FC236}">
                <a16:creationId xmlns:a16="http://schemas.microsoft.com/office/drawing/2014/main" id="{05E4807D-342D-4876-A770-D3A924E0E2DC}"/>
              </a:ext>
            </a:extLst>
          </p:cNvPr>
          <p:cNvSpPr>
            <a:spLocks xmlns:a="http://schemas.openxmlformats.org/drawingml/2006/main" noGrp="1"/>
          </p:cNvSpPr>
          <p:nvPr/>
        </p:nvSpPr>
        <p:spPr>
          <a:xfrm xmlns:a="http://schemas.openxmlformats.org/drawingml/2006/main">
            <a:off x="609600" y="1752600"/>
            <a:ext cx="1090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777"/>
                </a:solidFill>
                <a:latin typeface="Aptos"/>
                <a:ea typeface="Aptos"/>
                <a:cs typeface="Aptos"/>
              </a:defRPr>
            </a:pPr>
            <a:r>
              <a:rPr sz="2025" b="0">
                <a:solidFill>
                  <a:srgbClr val="536777"/>
                </a:solidFill>
                <a:latin typeface="Aptos"/>
                <a:ea typeface="Aptos"/>
                <a:cs typeface="Aptos"/>
              </a:rPr>
              <a:t>Same 210-day test. Both controllers start with 72,000 litres.</a:t>
            </a:r>
          </a:p>
        </p:txBody>
      </p:sp>
      <p:graphicFrame>
        <p:nvGraphicFramePr>
          <p:cNvPr id="16" name="Chart"/>
          <p:cNvGraphicFramePr/>
          <p:nvPr/>
        </p:nvGraphicFramePr>
        <p:xfrm>
          <a:off xmlns:a="http://schemas.openxmlformats.org/drawingml/2006/main" x="609600" y="2314575"/>
          <a:ext xmlns:a="http://schemas.openxmlformats.org/drawingml/2006/main" cx="5162550" cy="3124200"/>
        </p:xfrm>
        <a:graphic xmlns:a="http://schemas.openxmlformats.org/drawingml/2006/main">
          <a:graphicData uri="http://schemas.openxmlformats.org/drawingml/2006/chart">
            <c:chart xmlns:r="http://schemas.openxmlformats.org/officeDocument/2006/relationships" xmlns:c="http://schemas.openxmlformats.org/drawingml/2006/chart" r:id="R72a9609c58984616"/>
          </a:graphicData>
        </a:graphic>
      </p:graphicFrame>
      <p:graphicFrame>
        <p:nvGraphicFramePr>
          <p:cNvPr id="17" name="Chart"/>
          <p:cNvGraphicFramePr/>
          <p:nvPr/>
        </p:nvGraphicFramePr>
        <p:xfrm>
          <a:off xmlns:a="http://schemas.openxmlformats.org/drawingml/2006/main" x="6419850" y="2314575"/>
          <a:ext xmlns:a="http://schemas.openxmlformats.org/drawingml/2006/main" cx="5162550" cy="3124200"/>
        </p:xfrm>
        <a:graphic xmlns:a="http://schemas.openxmlformats.org/drawingml/2006/main">
          <a:graphicData uri="http://schemas.openxmlformats.org/drawingml/2006/chart">
            <c:chart xmlns:r="http://schemas.openxmlformats.org/officeDocument/2006/relationships" xmlns:c="http://schemas.openxmlformats.org/drawingml/2006/chart" r:id="R081857bca2754c19"/>
          </a:graphicData>
        </a:graphic>
      </p:graphicFrame>
      <p:sp>
        <p:nvSpPr>
          <p:cNvPr id="8" name="">
            <a:extLst xmlns:a="http://schemas.openxmlformats.org/drawingml/2006/main">
              <a:ext uri="{FF2B5EF4-FFF2-40B4-BE49-F238E27FC236}">
                <a16:creationId xmlns:a16="http://schemas.microsoft.com/office/drawing/2014/main" id="{4CDE42A1-BCC9-43B6-A0CE-B2E455E21F4E}"/>
              </a:ext>
            </a:extLst>
          </p:cNvPr>
          <p:cNvSpPr>
            <a:spLocks xmlns:a="http://schemas.openxmlformats.org/drawingml/2006/main" noGrp="1"/>
          </p:cNvSpPr>
          <p:nvPr/>
        </p:nvSpPr>
        <p:spPr>
          <a:xfrm xmlns:a="http://schemas.openxmlformats.org/drawingml/2006/main">
            <a:off x="1352550" y="5534025"/>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777"/>
                </a:solidFill>
                <a:latin typeface="Aptos"/>
                <a:ea typeface="Aptos"/>
                <a:cs typeface="Aptos"/>
              </a:defRPr>
            </a:pPr>
            <a:r>
              <a:rPr sz="1575" b="0">
                <a:solidFill>
                  <a:srgbClr val="536777"/>
                </a:solidFill>
                <a:latin typeface="Aptos"/>
                <a:ea typeface="Aptos"/>
                <a:cs typeface="Aptos"/>
              </a:rPr>
              <a:t>Baseline tank depleted</a:t>
            </a:r>
          </a:p>
        </p:txBody>
      </p:sp>
      <p:sp>
        <p:nvSpPr>
          <p:cNvPr id="9" name="">
            <a:extLst xmlns:a="http://schemas.openxmlformats.org/drawingml/2006/main">
              <a:ext uri="{FF2B5EF4-FFF2-40B4-BE49-F238E27FC236}">
                <a16:creationId xmlns:a16="http://schemas.microsoft.com/office/drawing/2014/main" id="{2D521832-4B2B-4F6B-9308-27AE6FAB6A8E}"/>
              </a:ext>
            </a:extLst>
          </p:cNvPr>
          <p:cNvSpPr>
            <a:spLocks xmlns:a="http://schemas.openxmlformats.org/drawingml/2006/main" noGrp="1"/>
          </p:cNvSpPr>
          <p:nvPr/>
        </p:nvSpPr>
        <p:spPr>
          <a:xfrm xmlns:a="http://schemas.openxmlformats.org/drawingml/2006/main">
            <a:off x="7048500" y="5534025"/>
            <a:ext cx="4562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2C3D"/>
                </a:solidFill>
                <a:latin typeface="Aptos"/>
                <a:ea typeface="Aptos"/>
                <a:cs typeface="Aptos"/>
              </a:defRPr>
            </a:pPr>
            <a:r>
              <a:rPr sz="1575" b="1">
                <a:solidFill>
                  <a:srgbClr val="142C3D"/>
                </a:solidFill>
                <a:latin typeface="Aptos"/>
                <a:ea typeface="Aptos"/>
                <a:cs typeface="Aptos"/>
              </a:rPr>
              <a:t>Zero critical outages in this run</a:t>
            </a:r>
          </a:p>
        </p:txBody>
      </p:sp>
      <p:sp>
        <p:nvSpPr>
          <p:cNvPr id="10" name="">
            <a:extLst xmlns:a="http://schemas.openxmlformats.org/drawingml/2006/main">
              <a:ext uri="{FF2B5EF4-FFF2-40B4-BE49-F238E27FC236}">
                <a16:creationId xmlns:a16="http://schemas.microsoft.com/office/drawing/2014/main" id="{9D67E0D5-C577-416D-8A07-8D44E87873B5}"/>
              </a:ext>
            </a:extLst>
          </p:cNvPr>
          <p:cNvSpPr>
            <a:spLocks xmlns:a="http://schemas.openxmlformats.org/drawingml/2006/main" noGrp="1"/>
          </p:cNvSpPr>
          <p:nvPr/>
        </p:nvSpPr>
        <p:spPr>
          <a:xfrm xmlns:a="http://schemas.openxmlformats.org/drawingml/2006/main">
            <a:off x="609600" y="60674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777"/>
                </a:solidFill>
                <a:latin typeface="Aptos"/>
                <a:ea typeface="Aptos"/>
                <a:cs typeface="Aptos"/>
              </a:defRPr>
            </a:pPr>
            <a:r>
              <a:rPr sz="1275" b="0">
                <a:solidFill>
                  <a:srgbClr val="536777"/>
                </a:solidFill>
                <a:latin typeface="Aptos"/>
                <a:ea typeface="Aptos"/>
                <a:cs typeface="Aptos"/>
              </a:rPr>
              <a:t>Brief-reported simulation. Synthetic loads, one test year and one seed. No field reliability or savings claim.</a:t>
            </a:r>
          </a:p>
        </p:txBody>
      </p:sp>
    </p:spTree>
    <p:extLst>
      <p:ext uri="{BB962C8B-B14F-4D97-AF65-F5344CB8AC3E}">
        <p14:creationId xmlns:p14="http://schemas.microsoft.com/office/powerpoint/2010/main" val="17911534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083465-1927-46D1-AA68-7BAE6A1DD85A}"/>
              </a:ext>
            </a:extLst>
          </p:cNvPr>
          <p:cNvSpPr>
            <a:spLocks xmlns:a="http://schemas.openxmlformats.org/drawingml/2006/main" noGrp="1"/>
          </p:cNvSpPr>
          <p:nvPr/>
        </p:nvSpPr>
        <p:spPr>
          <a:xfrm xmlns:a="http://schemas.openxmlformats.org/drawingml/2006/main">
            <a:off x="609600" y="3714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36777"/>
                </a:solidFill>
                <a:latin typeface="Aptos"/>
                <a:ea typeface="Aptos"/>
                <a:cs typeface="Aptos"/>
              </a:defRPr>
            </a:pPr>
            <a:r>
              <a:rPr sz="1275" b="1">
                <a:solidFill>
                  <a:srgbClr val="536777"/>
                </a:solidFill>
                <a:latin typeface="Aptos"/>
                <a:ea typeface="Aptos"/>
                <a:cs typeface="Aptos"/>
              </a:rPr>
              <a:t>RESEARCH AND REFERENCES</a:t>
            </a:r>
          </a:p>
        </p:txBody>
      </p:sp>
      <p:sp>
        <p:nvSpPr>
          <p:cNvPr id="2" name="">
            <a:extLst xmlns:a="http://schemas.openxmlformats.org/drawingml/2006/main">
              <a:ext uri="{FF2B5EF4-FFF2-40B4-BE49-F238E27FC236}">
                <a16:creationId xmlns:a16="http://schemas.microsoft.com/office/drawing/2014/main" id="{1A8DB56F-6C92-4C82-A6E7-F653C5BFBBFC}"/>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C3D"/>
                </a:solidFill>
                <a:latin typeface="Aptos"/>
                <a:ea typeface="Aptos"/>
                <a:cs typeface="Aptos"/>
              </a:defRPr>
            </a:pPr>
            <a:r>
              <a:rPr sz="3450" b="1">
                <a:solidFill>
                  <a:srgbClr val="142C3D"/>
                </a:solidFill>
                <a:latin typeface="Aptos"/>
                <a:ea typeface="Aptos"/>
                <a:cs typeface="Aptos"/>
              </a:rPr>
              <a:t>Evidence behind the design</a:t>
            </a:r>
          </a:p>
        </p:txBody>
      </p:sp>
      <p:sp>
        <p:nvSpPr>
          <p:cNvPr id="3" name="">
            <a:extLst xmlns:a="http://schemas.openxmlformats.org/drawingml/2006/main">
              <a:ext uri="{FF2B5EF4-FFF2-40B4-BE49-F238E27FC236}">
                <a16:creationId xmlns:a16="http://schemas.microsoft.com/office/drawing/2014/main" id="{0FE134E6-3712-4253-B728-1714472F8B75}"/>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PINK MONSTER</a:t>
            </a:r>
          </a:p>
        </p:txBody>
      </p:sp>
      <p:sp>
        <p:nvSpPr>
          <p:cNvPr id="4" name="">
            <a:extLst xmlns:a="http://schemas.openxmlformats.org/drawingml/2006/main">
              <a:ext uri="{FF2B5EF4-FFF2-40B4-BE49-F238E27FC236}">
                <a16:creationId xmlns:a16="http://schemas.microsoft.com/office/drawing/2014/main" id="{1FE59132-F3DC-4B93-96C0-77BCD72807E3}"/>
              </a:ext>
            </a:extLst>
          </p:cNvPr>
          <p:cNvSpPr>
            <a:spLocks xmlns:a="http://schemas.openxmlformats.org/drawingml/2006/main" noGrp="1"/>
          </p:cNvSpPr>
          <p:nvPr/>
        </p:nvSpPr>
        <p:spPr>
          <a:xfrm xmlns:a="http://schemas.openxmlformats.org/drawingml/2006/main">
            <a:off x="106680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777"/>
                </a:solidFill>
                <a:latin typeface="Aptos"/>
                <a:ea typeface="Aptos"/>
                <a:cs typeface="Aptos"/>
              </a:defRPr>
            </a:pPr>
            <a:r>
              <a:rPr sz="1050" b="0">
                <a:solidFill>
                  <a:srgbClr val="536777"/>
                </a:solidFill>
                <a:latin typeface="Aptos"/>
                <a:ea typeface="Aptos"/>
                <a:cs typeface="Aptos"/>
              </a:rPr>
              <a:t>06 / 06</a:t>
            </a:r>
          </a:p>
        </p:txBody>
      </p:sp>
      <p:sp>
        <p:nvSpPr>
          <p:cNvPr id="5" name="">
            <a:extLst xmlns:a="http://schemas.openxmlformats.org/drawingml/2006/main">
              <a:ext uri="{FF2B5EF4-FFF2-40B4-BE49-F238E27FC236}">
                <a16:creationId xmlns:a16="http://schemas.microsoft.com/office/drawing/2014/main" id="{9EF21671-4258-4F9B-A8B5-E75EF74E2698}"/>
              </a:ext>
            </a:extLst>
          </p:cNvPr>
          <p:cNvSpPr>
            <a:spLocks xmlns:a="http://schemas.openxmlformats.org/drawingml/2006/main" noGrp="1"/>
          </p:cNvSpPr>
          <p:nvPr/>
        </p:nvSpPr>
        <p:spPr>
          <a:xfrm xmlns:a="http://schemas.openxmlformats.org/drawingml/2006/main">
            <a:off x="609600" y="1981200"/>
            <a:ext cx="281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3D"/>
                </a:solidFill>
                <a:latin typeface="Aptos"/>
                <a:ea typeface="Aptos"/>
                <a:cs typeface="Aptos"/>
              </a:defRPr>
            </a:pPr>
            <a:r>
              <a:rPr sz="1950" b="1">
                <a:solidFill>
                  <a:srgbClr val="142C3D"/>
                </a:solidFill>
                <a:latin typeface="Aptos"/>
                <a:ea typeface="Aptos"/>
                <a:cs typeface="Aptos"/>
              </a:rPr>
              <a:t>Polar operating context</a:t>
            </a:r>
          </a:p>
        </p:txBody>
      </p:sp>
      <p:sp>
        <p:nvSpPr>
          <p:cNvPr id="6" name="">
            <a:extLst xmlns:a="http://schemas.openxmlformats.org/drawingml/2006/main">
              <a:ext uri="{FF2B5EF4-FFF2-40B4-BE49-F238E27FC236}">
                <a16:creationId xmlns:a16="http://schemas.microsoft.com/office/drawing/2014/main" id="{9D354D4E-C847-424D-B114-2E384C01FC0F}"/>
              </a:ext>
            </a:extLst>
          </p:cNvPr>
          <p:cNvSpPr>
            <a:spLocks xmlns:a="http://schemas.openxmlformats.org/drawingml/2006/main" noGrp="1"/>
          </p:cNvSpPr>
          <p:nvPr/>
        </p:nvSpPr>
        <p:spPr>
          <a:xfrm xmlns:a="http://schemas.openxmlformats.org/drawingml/2006/main">
            <a:off x="3838575" y="198120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de Witt, Chung &amp; Lee (2024)</a:t>
            </a:r>
          </a:p>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Mapping Renewable Energy among Antarctic Research Stations</a:t>
            </a:r>
          </a:p>
        </p:txBody>
      </p:sp>
      <p:sp>
        <p:nvSpPr>
          <p:cNvPr id="7" name="">
            <a:extLst xmlns:a="http://schemas.openxmlformats.org/drawingml/2006/main">
              <a:ext uri="{FF2B5EF4-FFF2-40B4-BE49-F238E27FC236}">
                <a16:creationId xmlns:a16="http://schemas.microsoft.com/office/drawing/2014/main" id="{A22D49E2-6414-454C-A5D0-4A12BAA51C60}"/>
              </a:ext>
            </a:extLst>
          </p:cNvPr>
          <p:cNvSpPr>
            <a:spLocks xmlns:a="http://schemas.openxmlformats.org/drawingml/2006/main" noGrp="1"/>
          </p:cNvSpPr>
          <p:nvPr/>
        </p:nvSpPr>
        <p:spPr>
          <a:xfrm xmlns:a="http://schemas.openxmlformats.org/drawingml/2006/main">
            <a:off x="3838575" y="2581275"/>
            <a:ext cx="771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777"/>
                </a:solidFill>
                <a:latin typeface="Aptos"/>
                <a:ea typeface="Aptos"/>
                <a:cs typeface="Aptos"/>
              </a:defRPr>
            </a:pPr>
            <a:r>
              <a:rPr sz="1200" b="0">
                <a:solidFill>
                  <a:srgbClr val="536777"/>
                </a:solidFill>
                <a:latin typeface="Aptos"/>
                <a:ea typeface="Aptos"/>
                <a:cs typeface="Aptos"/>
              </a:rPr>
              <a:t>doi.org/10.3390/su16010426</a:t>
            </a:r>
          </a:p>
        </p:txBody>
      </p:sp>
      <p:sp>
        <p:nvSpPr>
          <p:cNvPr id="8" name="">
            <a:extLst xmlns:a="http://schemas.openxmlformats.org/drawingml/2006/main">
              <a:ext uri="{FF2B5EF4-FFF2-40B4-BE49-F238E27FC236}">
                <a16:creationId xmlns:a16="http://schemas.microsoft.com/office/drawing/2014/main" id="{77BC698E-DE20-4836-B50E-00C20D5A3870}"/>
              </a:ext>
            </a:extLst>
          </p:cNvPr>
          <p:cNvSpPr>
            <a:spLocks xmlns:a="http://schemas.openxmlformats.org/drawingml/2006/main" noGrp="1"/>
          </p:cNvSpPr>
          <p:nvPr/>
        </p:nvSpPr>
        <p:spPr>
          <a:xfrm xmlns:a="http://schemas.openxmlformats.org/drawingml/2006/main">
            <a:off x="609600" y="2990850"/>
            <a:ext cx="281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3D"/>
                </a:solidFill>
                <a:latin typeface="Aptos"/>
                <a:ea typeface="Aptos"/>
                <a:cs typeface="Aptos"/>
              </a:defRPr>
            </a:pPr>
            <a:r>
              <a:rPr sz="1950" b="1">
                <a:solidFill>
                  <a:srgbClr val="142C3D"/>
                </a:solidFill>
                <a:latin typeface="Aptos"/>
                <a:ea typeface="Aptos"/>
                <a:cs typeface="Aptos"/>
              </a:rPr>
              <a:t>Weather input</a:t>
            </a:r>
          </a:p>
        </p:txBody>
      </p:sp>
      <p:sp>
        <p:nvSpPr>
          <p:cNvPr id="9" name="">
            <a:extLst xmlns:a="http://schemas.openxmlformats.org/drawingml/2006/main">
              <a:ext uri="{FF2B5EF4-FFF2-40B4-BE49-F238E27FC236}">
                <a16:creationId xmlns:a16="http://schemas.microsoft.com/office/drawing/2014/main" id="{F22378DC-3EAD-4A7A-89D6-C879D18829AE}"/>
              </a:ext>
            </a:extLst>
          </p:cNvPr>
          <p:cNvSpPr>
            <a:spLocks xmlns:a="http://schemas.openxmlformats.org/drawingml/2006/main" noGrp="1"/>
          </p:cNvSpPr>
          <p:nvPr/>
        </p:nvSpPr>
        <p:spPr>
          <a:xfrm xmlns:a="http://schemas.openxmlformats.org/drawingml/2006/main">
            <a:off x="3838575" y="29908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ERA5 historical weather through Open-Meteo</a:t>
            </a:r>
          </a:p>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Environmental input for the station simulation</a:t>
            </a:r>
          </a:p>
        </p:txBody>
      </p:sp>
      <p:sp>
        <p:nvSpPr>
          <p:cNvPr id="10" name="">
            <a:extLst xmlns:a="http://schemas.openxmlformats.org/drawingml/2006/main">
              <a:ext uri="{FF2B5EF4-FFF2-40B4-BE49-F238E27FC236}">
                <a16:creationId xmlns:a16="http://schemas.microsoft.com/office/drawing/2014/main" id="{99BF6893-7E8D-4895-8687-0E795E51F44A}"/>
              </a:ext>
            </a:extLst>
          </p:cNvPr>
          <p:cNvSpPr>
            <a:spLocks xmlns:a="http://schemas.openxmlformats.org/drawingml/2006/main" noGrp="1"/>
          </p:cNvSpPr>
          <p:nvPr/>
        </p:nvSpPr>
        <p:spPr>
          <a:xfrm xmlns:a="http://schemas.openxmlformats.org/drawingml/2006/main">
            <a:off x="3838575" y="3590925"/>
            <a:ext cx="771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777"/>
                </a:solidFill>
                <a:latin typeface="Aptos"/>
                <a:ea typeface="Aptos"/>
                <a:cs typeface="Aptos"/>
              </a:defRPr>
            </a:pPr>
            <a:r>
              <a:rPr sz="1200" b="0">
                <a:solidFill>
                  <a:srgbClr val="536777"/>
                </a:solidFill>
                <a:latin typeface="Aptos"/>
                <a:ea typeface="Aptos"/>
                <a:cs typeface="Aptos"/>
              </a:rPr>
              <a:t>open-meteo.com/en/docs/historical-weather-api</a:t>
            </a:r>
          </a:p>
        </p:txBody>
      </p:sp>
      <p:sp>
        <p:nvSpPr>
          <p:cNvPr id="11" name="">
            <a:extLst xmlns:a="http://schemas.openxmlformats.org/drawingml/2006/main">
              <a:ext uri="{FF2B5EF4-FFF2-40B4-BE49-F238E27FC236}">
                <a16:creationId xmlns:a16="http://schemas.microsoft.com/office/drawing/2014/main" id="{F2FBB455-F348-4875-80EC-718CED59C1F3}"/>
              </a:ext>
            </a:extLst>
          </p:cNvPr>
          <p:cNvSpPr>
            <a:spLocks xmlns:a="http://schemas.openxmlformats.org/drawingml/2006/main" noGrp="1"/>
          </p:cNvSpPr>
          <p:nvPr/>
        </p:nvSpPr>
        <p:spPr>
          <a:xfrm xmlns:a="http://schemas.openxmlformats.org/drawingml/2006/main">
            <a:off x="609600" y="4000500"/>
            <a:ext cx="281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3D"/>
                </a:solidFill>
                <a:latin typeface="Aptos"/>
                <a:ea typeface="Aptos"/>
                <a:cs typeface="Aptos"/>
              </a:defRPr>
            </a:pPr>
            <a:r>
              <a:rPr sz="1950" b="1">
                <a:solidFill>
                  <a:srgbClr val="142C3D"/>
                </a:solidFill>
                <a:latin typeface="Aptos"/>
                <a:ea typeface="Aptos"/>
                <a:cs typeface="Aptos"/>
              </a:rPr>
              <a:t>Methods and tools</a:t>
            </a:r>
          </a:p>
        </p:txBody>
      </p:sp>
      <p:sp>
        <p:nvSpPr>
          <p:cNvPr id="12" name="">
            <a:extLst xmlns:a="http://schemas.openxmlformats.org/drawingml/2006/main">
              <a:ext uri="{FF2B5EF4-FFF2-40B4-BE49-F238E27FC236}">
                <a16:creationId xmlns:a16="http://schemas.microsoft.com/office/drawing/2014/main" id="{3138BF71-6920-4EF7-B524-5650D1445DD5}"/>
              </a:ext>
            </a:extLst>
          </p:cNvPr>
          <p:cNvSpPr>
            <a:spLocks xmlns:a="http://schemas.openxmlformats.org/drawingml/2006/main" noGrp="1"/>
          </p:cNvSpPr>
          <p:nvPr/>
        </p:nvSpPr>
        <p:spPr>
          <a:xfrm xmlns:a="http://schemas.openxmlformats.org/drawingml/2006/main">
            <a:off x="3838575" y="400050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pvlib for PV modelling, LightGBM for forecast ranges</a:t>
            </a:r>
          </a:p>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PuLP and HiGHS for constrained scheduling</a:t>
            </a:r>
          </a:p>
        </p:txBody>
      </p:sp>
      <p:sp>
        <p:nvSpPr>
          <p:cNvPr id="13" name="">
            <a:extLst xmlns:a="http://schemas.openxmlformats.org/drawingml/2006/main">
              <a:ext uri="{FF2B5EF4-FFF2-40B4-BE49-F238E27FC236}">
                <a16:creationId xmlns:a16="http://schemas.microsoft.com/office/drawing/2014/main" id="{67AC29DE-328E-4CEC-9826-299AB195CFD4}"/>
              </a:ext>
            </a:extLst>
          </p:cNvPr>
          <p:cNvSpPr>
            <a:spLocks xmlns:a="http://schemas.openxmlformats.org/drawingml/2006/main" noGrp="1"/>
          </p:cNvSpPr>
          <p:nvPr/>
        </p:nvSpPr>
        <p:spPr>
          <a:xfrm xmlns:a="http://schemas.openxmlformats.org/drawingml/2006/main">
            <a:off x="3838575" y="4600575"/>
            <a:ext cx="771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777"/>
                </a:solidFill>
                <a:latin typeface="Aptos"/>
                <a:ea typeface="Aptos"/>
                <a:cs typeface="Aptos"/>
              </a:defRPr>
            </a:pPr>
            <a:r>
              <a:rPr sz="1200" b="0">
                <a:solidFill>
                  <a:srgbClr val="536777"/>
                </a:solidFill>
                <a:latin typeface="Aptos"/>
                <a:ea typeface="Aptos"/>
                <a:cs typeface="Aptos"/>
              </a:rPr>
              <a:t>pvlib-python.readthedocs.io   /   lightgbm.readthedocs.io   /   highs.dev</a:t>
            </a:r>
          </a:p>
        </p:txBody>
      </p:sp>
      <p:sp>
        <p:nvSpPr>
          <p:cNvPr id="14" name="">
            <a:extLst xmlns:a="http://schemas.openxmlformats.org/drawingml/2006/main">
              <a:ext uri="{FF2B5EF4-FFF2-40B4-BE49-F238E27FC236}">
                <a16:creationId xmlns:a16="http://schemas.microsoft.com/office/drawing/2014/main" id="{9AD1B2A1-1ED4-4FBF-AB9E-8D026E596152}"/>
              </a:ext>
            </a:extLst>
          </p:cNvPr>
          <p:cNvSpPr>
            <a:spLocks xmlns:a="http://schemas.openxmlformats.org/drawingml/2006/main" noGrp="1"/>
          </p:cNvSpPr>
          <p:nvPr/>
        </p:nvSpPr>
        <p:spPr>
          <a:xfrm xmlns:a="http://schemas.openxmlformats.org/drawingml/2006/main">
            <a:off x="609600" y="5010150"/>
            <a:ext cx="281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3D"/>
                </a:solidFill>
                <a:latin typeface="Aptos"/>
                <a:ea typeface="Aptos"/>
                <a:cs typeface="Aptos"/>
              </a:defRPr>
            </a:pPr>
            <a:r>
              <a:rPr sz="1950" b="1">
                <a:solidFill>
                  <a:srgbClr val="142C3D"/>
                </a:solidFill>
                <a:latin typeface="Aptos"/>
                <a:ea typeface="Aptos"/>
                <a:cs typeface="Aptos"/>
              </a:rPr>
              <a:t>Prototype evidence</a:t>
            </a:r>
          </a:p>
        </p:txBody>
      </p:sp>
      <p:sp>
        <p:nvSpPr>
          <p:cNvPr id="15" name="">
            <a:extLst xmlns:a="http://schemas.openxmlformats.org/drawingml/2006/main">
              <a:ext uri="{FF2B5EF4-FFF2-40B4-BE49-F238E27FC236}">
                <a16:creationId xmlns:a16="http://schemas.microsoft.com/office/drawing/2014/main" id="{93E16ABF-7255-49BE-BE36-2304B9E0460E}"/>
              </a:ext>
            </a:extLst>
          </p:cNvPr>
          <p:cNvSpPr>
            <a:spLocks xmlns:a="http://schemas.openxmlformats.org/drawingml/2006/main" noGrp="1"/>
          </p:cNvSpPr>
          <p:nvPr/>
        </p:nvSpPr>
        <p:spPr>
          <a:xfrm xmlns:a="http://schemas.openxmlformats.org/drawingml/2006/main">
            <a:off x="3838575" y="50101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Team technical brief, sections 6–10</a:t>
            </a:r>
          </a:p>
          <a:p xmlns:a="http://schemas.openxmlformats.org/drawingml/2006/main">
            <a:pPr>
              <a:defRPr sz="1725" b="0">
                <a:solidFill>
                  <a:srgbClr val="536777"/>
                </a:solidFill>
                <a:latin typeface="Aptos"/>
                <a:ea typeface="Aptos"/>
                <a:cs typeface="Aptos"/>
              </a:defRPr>
            </a:pPr>
            <a:r>
              <a:rPr sz="1725" b="0">
                <a:solidFill>
                  <a:srgbClr val="536777"/>
                </a:solidFill>
                <a:latin typeface="Aptos"/>
                <a:ea typeface="Aptos"/>
                <a:cs typeface="Aptos"/>
              </a:rPr>
              <a:t>Configuration assumptions, comparison runs and limitations</a:t>
            </a:r>
          </a:p>
        </p:txBody>
      </p:sp>
      <p:sp>
        <p:nvSpPr>
          <p:cNvPr id="16" name="">
            <a:extLst xmlns:a="http://schemas.openxmlformats.org/drawingml/2006/main">
              <a:ext uri="{FF2B5EF4-FFF2-40B4-BE49-F238E27FC236}">
                <a16:creationId xmlns:a16="http://schemas.microsoft.com/office/drawing/2014/main" id="{DB55E705-4109-452A-A802-60D824FB9E17}"/>
              </a:ext>
            </a:extLst>
          </p:cNvPr>
          <p:cNvSpPr>
            <a:spLocks xmlns:a="http://schemas.openxmlformats.org/drawingml/2006/main" noGrp="1"/>
          </p:cNvSpPr>
          <p:nvPr/>
        </p:nvSpPr>
        <p:spPr>
          <a:xfrm xmlns:a="http://schemas.openxmlformats.org/drawingml/2006/main">
            <a:off x="3838575" y="5610225"/>
            <a:ext cx="771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777"/>
                </a:solidFill>
                <a:latin typeface="Aptos"/>
                <a:ea typeface="Aptos"/>
                <a:cs typeface="Aptos"/>
              </a:defRPr>
            </a:pPr>
            <a:r>
              <a:rPr sz="1200" b="0">
                <a:solidFill>
                  <a:srgbClr val="536777"/>
                </a:solidFill>
                <a:latin typeface="Aptos"/>
                <a:ea typeface="Aptos"/>
                <a:cs typeface="Aptos"/>
              </a:rPr>
              <a:t>SIH_HANDOFF_BRIEF_claude.md</a:t>
            </a:r>
          </a:p>
        </p:txBody>
      </p:sp>
    </p:spTree>
    <p:extLst>
      <p:ext uri="{BB962C8B-B14F-4D97-AF65-F5344CB8AC3E}">
        <p14:creationId xmlns:p14="http://schemas.microsoft.com/office/powerpoint/2010/main" val="355667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2026-09-09T04:18:09.9110000Z</dcterms:created>
  <dcterms:modified xsi:type="dcterms:W3CDTF">2026-09-09T04:18:09.9110000Z</dcterms:modified>
</coreProperties>
</file>