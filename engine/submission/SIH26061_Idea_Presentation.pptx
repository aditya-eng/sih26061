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Problem Statement ID: </a:t>
            </a:r>
            <a:r>
              <a:rPr sz="1300">
                <a:solidFill>
                  <a:srgbClr val="0B4F9E"/>
                </a:solidFill>
                <a:latin typeface="Calibri"/>
              </a:rPr>
              <a:t>SIH26061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Problem Statement Title: </a:t>
            </a:r>
            <a:r>
              <a:rPr sz="1300">
                <a:solidFill>
                  <a:srgbClr val="0B4F9E"/>
                </a:solidFill>
                <a:latin typeface="Calibri"/>
              </a:rPr>
              <a:t>AI-Driven Smart Energy Management System for Polar Research Stations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Theme: </a:t>
            </a:r>
            <a:r>
              <a:rPr sz="1300">
                <a:solidFill>
                  <a:srgbClr val="111A27"/>
                </a:solidFill>
                <a:latin typeface="Calibri"/>
              </a:rPr>
              <a:t>Clean &amp; Green Technology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PS Category: </a:t>
            </a:r>
            <a:r>
              <a:rPr sz="1300">
                <a:solidFill>
                  <a:srgbClr val="111A27"/>
                </a:solidFill>
                <a:latin typeface="Calibri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Team ID: </a:t>
            </a:r>
            <a:r>
              <a:rPr sz="1300">
                <a:solidFill>
                  <a:srgbClr val="111A27"/>
                </a:solidFill>
                <a:latin typeface="Calibri"/>
              </a:rPr>
              <a:t>&lt;Team ID&gt;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11A27"/>
                </a:solidFill>
                <a:latin typeface="Calibri"/>
              </a:rPr>
              <a:t>Team Name: </a:t>
            </a:r>
            <a:r>
              <a:rPr sz="1300">
                <a:solidFill>
                  <a:srgbClr val="111A27"/>
                </a:solidFill>
                <a:latin typeface="Calibri"/>
              </a:rPr>
              <a:t>&lt;Team Name&gt;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329184" y="507492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4F9E"/>
                </a:solidFill>
                <a:latin typeface="Calibri"/>
              </a:rPr>
              <a:t>HIMSHAKTI</a:t>
            </a:r>
          </a:p>
          <a:p>
            <a:r>
              <a:rPr sz="1200">
                <a:solidFill>
                  <a:srgbClr val="4A5768"/>
                </a:solidFill>
                <a:latin typeface="Calibri"/>
              </a:rPr>
              <a:t>Fuel-survivability operating policy for Indian Antarctic stations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2200" b="1">
                <a:latin typeface="Calibri"/>
              </a:rPr>
              <a:t>HIMSHAKTI — fuel survivability, not another dashboard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11480" y="1143000"/>
            <a:ext cx="653796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200"/>
              </a:spcAft>
              <a:buFont typeface="Wingdings" panose="05000000000000000000" pitchFamily="2" charset="2"/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Two-level operating policy for a station with ONE fuel delivery a year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Outer level: Monte Carlo allocator sets a daily litre allowance that holds P(critical load served to the ship) ≥ 99%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Inner level: rolling MILP re-optimises every step inside that allowance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Detailed explanation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Physics digital twin of Maitri/Bharati on 9 years of real ERA5 weather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Loads built bottom-up: headcount, envelope heat loss, snow-melt water, 24x7 science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PV modelled at 70 deg tilt with snow albedo and cold-temperature gain; wind with air-density gain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LightGBM quantile forecasts (p10/p50/p90) for load, solar and wind, 1–48 h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MILP commits gensets, battery, curtailment and tiered shedding on a 36 h horizon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How it addresses the problem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Delivers all four asks of the statement: load forecasting, renewable integration, fuel optimisation, extreme conditions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But scores them on survivability to the next ship, not on cost per kWh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Innovation and uniqueness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Annual-resupply fuel budgeting — absent from every commercial EMS (ABB, Schneider, SMA)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Science-integrity dispatch — generator hours priced when forecast wind carries exhaust into the station's own clean-air samplers</a:t>
            </a:r>
          </a:p>
          <a:p>
            <a:pPr>
              <a:spcAft>
                <a:spcPts val="100"/>
              </a:spcAft>
              <a:buNone/>
            </a:pPr>
            <a:r>
              <a:rPr sz="980">
                <a:solidFill>
                  <a:srgbClr val="111A27"/>
                </a:solidFill>
                <a:latin typeface="Calibri"/>
              </a:rPr>
              <a:t>•  Physical-availability forecasting — drifted panels and iced blades, which decorrelate from the weather forecast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3" name="Picture 15362" descr="fig_constra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17320"/>
            <a:ext cx="4892040" cy="2425361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995160" y="411480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4A5768"/>
                </a:solidFill>
                <a:latin typeface="Calibri"/>
              </a:rPr>
              <a:t>Left: same weather, same station, two tanks draining. Right: the sector in which our own exhaust would corrupt our own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600" b="1">
                <a:latin typeface="Calibri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11247120" cy="2377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Technologies to be used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Python · pandas · NumPy · pvlib (PV physics) · LightGBM (quantile regression)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PuLP + HiGHS mixed-integer solver · SciPy · Parquet cache · pytest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ERA5 reanalysis (Copernicus, via an open archive API — no credentials, cached offline)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Offline single-file HTML console (Plotly inlined) · Modbus + MQTT setpoint interface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Methodology and process for implementation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Closed-loop simulation of a 210-day season (2023-02-01 to 2023-08-30), re-optimised on a 36 h rolling horizon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Four controllers on identical weather: fixed schedule, tuned rule-based, ours, perfect-foresight oracle — plus a point-forecast ablation</a:t>
            </a:r>
          </a:p>
          <a:p>
            <a:pPr>
              <a:spcAft>
                <a:spcPts val="100"/>
              </a:spcAft>
              <a:buNone/>
            </a:pPr>
            <a:r>
              <a:rPr sz="1000">
                <a:solidFill>
                  <a:srgbClr val="111A27"/>
                </a:solidFill>
                <a:latin typeface="Calibri"/>
              </a:rPr>
              <a:t>•  Stress tests: four-day blizzard, 48 h genset failure, 12 h badly wrong forecast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fig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46120"/>
            <a:ext cx="11201400" cy="2299537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502920" y="5486400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4A5768"/>
                </a:solidFill>
                <a:latin typeface="Calibri"/>
              </a:rPr>
              <a:t>Every stage is implemented and runs end to end on one command; the whole pipeline works with the network down, which is the station's real operating condition.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600" b="1">
                <a:latin typeface="Calibri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640080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Analysis of the feasibility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Already built and running: no hardware, no data collection, no annotation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MILP solves in ~667 ms per step — an edge laptop is enough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Forecast skill on an unseen year: load 2.2% MAPE, solar 12.1%, wind 20.0%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p90 forecast band covers 89% of hours — calibrated, which is what the reserve rule consumes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Potential challenges and risks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No public electrical-load data exists for ANY polar research station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Maitri II generator, PV and turbine ratings are not yet published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The team writes both the simulator and the controller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Margin over a well-tuned rule-based controller can be modest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Strategies for overcoming these challenges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Load synthesised bottom-up from physics, never drawn; calibrated to published Antarctic station fuel-demand shapes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All 64 parameters carry source, confidence and a sensitivity range, shown in an Assumptions tab in the demo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Honest baselines: a tuned rule-based controller and a perfect-foresight oracle bound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Framed as a sizing and operating-policy explorer for Maitri II, turning the unknown ratings into the use case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fig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371600"/>
            <a:ext cx="4846320" cy="2069741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7040880" y="397763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4A5768"/>
                </a:solidFill>
                <a:latin typeface="Calibri"/>
              </a:rPr>
              <a:t>Same weather, same twin. Ours closes 91% of the gap between the tuned baseline and a perfect-foresight bound, at 0 critical outages against 6.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600" b="1">
                <a:latin typeface="Calibri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640080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Potential impact on the target audience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NCPOR station engineers at Maitri and Bharati: decision support for a fatigued operator in polar night, not a replacement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Maitri II — approved, ~Rs 2,000 crore, targeted 2029, explicitly a green station: this is an operating policy and a sizing tool for a station still on the drawing board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Directly transferable to Himalayan, island and forward defence outposts on annual resupply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Benefits of the solution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Economic — 8,615 L less diesel over the modelled season; fuel delivered by ice-class ship costs a multiple of its pump price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Operational — critical outages cut from 6 to 0 on identical weather; unserved critical energy 328.4 → 0.0 kWh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Scientific — clean-air sampling windows protected 27% → 44%, so the station's own record stays usable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Environmental — less combustion and fewer fuel movements in an Antarctic Treaty protected area; renewables actually used 92% of what they generate</a:t>
            </a:r>
          </a:p>
          <a:p>
            <a:pPr>
              <a:spcAft>
                <a:spcPts val="100"/>
              </a:spcAft>
              <a:buNone/>
            </a:pPr>
            <a:r>
              <a:rPr sz="960">
                <a:solidFill>
                  <a:srgbClr val="111A27"/>
                </a:solidFill>
                <a:latin typeface="Calibri"/>
              </a:rPr>
              <a:t>•  Strategic — an Indian-built operating policy for Indian polar assets, not a licensed foreign 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fig_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63040"/>
            <a:ext cx="4892040" cy="2155066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95160" y="3977639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4A5768"/>
                </a:solidFill>
                <a:latin typeface="Calibri"/>
              </a:rPr>
              <a:t>Measured over the simulated season on identical weather; every figure is regenerated from results/run.json, never typed in.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600" b="1">
                <a:latin typeface="Calibri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66928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Polar energy literature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de Witt, Chung &amp; Lee (2024). Mapping Renewable Energy among Antarctic Research Stations. Sustainability 16(1), 426. doi:10.3390/su16010426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Modeling Hybrid Renewable Microgrids in Remote Northern Regions. Energies (2025) 18, 5827. doi:10.3390/en18215827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Learning from Arctic Microgrids: cost and resiliency with hydrogen and battery storage. Sustainability (2025) 17, 5996. doi:10.3390/su17135996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Parent &amp; Ilinca (2011). Anti-icing and de-icing techniques for wind turbines. Cold Regions Science and Technology 65, 88–96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MPC-based energy management for an isolated electro-thermal microgrid. Energy Conversion and Management (2024)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6355080" y="1051560"/>
            <a:ext cx="5440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Data and tooling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ERA5 reanalysis, Copernicus Climate Change Service / ECMWF — hourly, 9 years at 70.77 S, 11.73 E (Maitri, Schirmacher Oasis)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pvlib-python for irradiance transposition and cell temperature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HiGHS mixed-integer solver; LightGBM quantile regression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SCAR READER, AMRC automatic weather stations, BSRN radiation — cross-checks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Station and programme sources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NCPOR / COMNAP Antarctic Station Catalogue: Maitri (1989), Bharati (2012)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Public reporting on Maitri II approval: ~Rs 2,000 crore, target January 2029, wind and solar powered, waste-heat recovery, unmanned data relay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SIH 2026 portal record for SIH26061 (MoES / NCPOR, Clean &amp; Green Technology)</a:t>
            </a:r>
          </a:p>
          <a:p>
            <a:pPr>
              <a:spcBef>
                <a:spcPts val="60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B4F9E"/>
                </a:solidFill>
                <a:latin typeface="Calibri"/>
              </a:rPr>
              <a:t>Our work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Code, tests, results and the offline console: github.com/NSUT-SIH-26/NSUT-SIH-DEMO</a:t>
            </a:r>
          </a:p>
          <a:p>
            <a:pPr>
              <a:spcAft>
                <a:spcPts val="100"/>
              </a:spcAft>
              <a:buNone/>
            </a:pPr>
            <a:r>
              <a:rPr sz="919">
                <a:solidFill>
                  <a:srgbClr val="111A27"/>
                </a:solidFill>
                <a:latin typeface="Calibri"/>
              </a:rPr>
              <a:t>•  One command reproduces every number on these slides from real ERA5 weather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