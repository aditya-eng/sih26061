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111A27"/>
                </a:solidFill>
                <a:latin typeface="Calibri"/>
              </a:rPr>
              <a:t>Problem Statement ID: </a:t>
            </a:r>
            <a:r>
              <a:rPr sz="1300">
                <a:solidFill>
                  <a:srgbClr val="0B4F9E"/>
                </a:solidFill>
                <a:latin typeface="Calibri"/>
              </a:rPr>
              <a:t>SIH26061</a:t>
            </a:r>
            <a:endParaRPr lang="en-US" dirty="0"/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11A27"/>
                </a:solidFill>
                <a:latin typeface="Calibri"/>
              </a:rPr>
              <a:t>Problem Statement Title: </a:t>
            </a:r>
            <a:r>
              <a:rPr sz="1300">
                <a:solidFill>
                  <a:srgbClr val="0B4F9E"/>
                </a:solidFill>
                <a:latin typeface="Calibri"/>
              </a:rPr>
              <a:t>AI-Driven Smart Energy Management System for Polar Research Stations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11A27"/>
                </a:solidFill>
                <a:latin typeface="Calibri"/>
              </a:rPr>
              <a:t>Theme: </a:t>
            </a:r>
            <a:r>
              <a:rPr sz="1300">
                <a:solidFill>
                  <a:srgbClr val="111A27"/>
                </a:solidFill>
                <a:latin typeface="Calibri"/>
              </a:rPr>
              <a:t>Clean &amp; Green Technology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11A27"/>
                </a:solidFill>
                <a:latin typeface="Calibri"/>
              </a:rPr>
              <a:t>PS Category: </a:t>
            </a:r>
            <a:r>
              <a:rPr sz="1300">
                <a:solidFill>
                  <a:srgbClr val="111A27"/>
                </a:solidFill>
                <a:latin typeface="Calibri"/>
              </a:rPr>
              <a:t>Software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11A27"/>
                </a:solidFill>
                <a:latin typeface="Calibri"/>
              </a:rPr>
              <a:t>Team ID: </a:t>
            </a:r>
            <a:r>
              <a:rPr sz="1300">
                <a:solidFill>
                  <a:srgbClr val="111A27"/>
                </a:solidFill>
                <a:latin typeface="Calibri"/>
              </a:rPr>
              <a:t>&lt;Team ID&gt;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11A27"/>
                </a:solidFill>
                <a:latin typeface="Calibri"/>
              </a:rPr>
              <a:t>Team Name: </a:t>
            </a:r>
            <a:r>
              <a:rPr sz="1300">
                <a:solidFill>
                  <a:srgbClr val="111A27"/>
                </a:solidFill>
                <a:latin typeface="Calibri"/>
              </a:rPr>
              <a:t>&lt;Team Name&gt;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329184" y="507492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B4F9E"/>
                </a:solidFill>
                <a:latin typeface="Calibri"/>
              </a:rPr>
              <a:t>HIMSHAKTI</a:t>
            </a:r>
          </a:p>
          <a:p>
            <a:r>
              <a:rPr sz="1200">
                <a:solidFill>
                  <a:srgbClr val="4A5768"/>
                </a:solidFill>
                <a:latin typeface="Calibri"/>
              </a:rPr>
              <a:t>Fuel-survivability operating policy for Indian Antarctic stations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2200" b="1">
                <a:latin typeface="Calibri"/>
              </a:rPr>
              <a:t>HIMSHAKTI — fuel survivability, not another dashboard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11480" y="1143000"/>
            <a:ext cx="653796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200"/>
              </a:spcAft>
              <a:buFont typeface="Wingdings" panose="05000000000000000000" pitchFamily="2" charset="2"/>
              <a:buNone/>
            </a:pPr>
            <a:r>
              <a:rPr sz="1200" b="1">
                <a:solidFill>
                  <a:srgbClr val="0B4F9E"/>
                </a:solidFill>
                <a:latin typeface="Calibri"/>
              </a:rPr>
              <a:t>Proposed Solution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100"/>
              </a:spcAft>
              <a:buNone/>
            </a:pPr>
            <a:r>
              <a:rPr sz="980">
                <a:solidFill>
                  <a:srgbClr val="111A27"/>
                </a:solidFill>
                <a:latin typeface="Calibri"/>
              </a:rPr>
              <a:t>•  Two-level operating policy for a station with ONE fuel delivery a year</a:t>
            </a:r>
          </a:p>
          <a:p>
            <a:pPr>
              <a:spcAft>
                <a:spcPts val="100"/>
              </a:spcAft>
              <a:buNone/>
            </a:pPr>
            <a:r>
              <a:rPr sz="980">
                <a:solidFill>
                  <a:srgbClr val="111A27"/>
                </a:solidFill>
                <a:latin typeface="Calibri"/>
              </a:rPr>
              <a:t>•  Outer level: Monte Carlo allocator over past winters sets a daily litre allowance, targeting critical load served until the ship in 99% of winters</a:t>
            </a:r>
          </a:p>
          <a:p>
            <a:pPr>
              <a:spcAft>
                <a:spcPts val="100"/>
              </a:spcAft>
              <a:buNone/>
            </a:pPr>
            <a:r>
              <a:rPr sz="980">
                <a:solidFill>
                  <a:srgbClr val="111A27"/>
                </a:solidFill>
                <a:latin typeface="Calibri"/>
              </a:rPr>
              <a:t>•  Inner level: rolling MILP re-optimises every step inside that allowance</a:t>
            </a:r>
          </a:p>
          <a:p>
            <a:pPr>
              <a:spcBef>
                <a:spcPts val="60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0B4F9E"/>
                </a:solidFill>
                <a:latin typeface="Calibri"/>
              </a:rPr>
              <a:t>Detailed explanation</a:t>
            </a:r>
          </a:p>
          <a:p>
            <a:pPr>
              <a:spcAft>
                <a:spcPts val="100"/>
              </a:spcAft>
              <a:buNone/>
            </a:pPr>
            <a:r>
              <a:rPr sz="980">
                <a:solidFill>
                  <a:srgbClr val="111A27"/>
                </a:solidFill>
                <a:latin typeface="Calibri"/>
              </a:rPr>
              <a:t>•  Physics digital twin of Maitri/Bharati on 9 years of real ERA5 weather</a:t>
            </a:r>
          </a:p>
          <a:p>
            <a:pPr>
              <a:spcAft>
                <a:spcPts val="100"/>
              </a:spcAft>
              <a:buNone/>
            </a:pPr>
            <a:r>
              <a:rPr sz="980">
                <a:solidFill>
                  <a:srgbClr val="111A27"/>
                </a:solidFill>
                <a:latin typeface="Calibri"/>
              </a:rPr>
              <a:t>•  Loads built bottom-up: headcount, envelope heat loss, snow-melt water, 24x7 science</a:t>
            </a:r>
          </a:p>
          <a:p>
            <a:pPr>
              <a:spcAft>
                <a:spcPts val="100"/>
              </a:spcAft>
              <a:buNone/>
            </a:pPr>
            <a:r>
              <a:rPr sz="980">
                <a:solidFill>
                  <a:srgbClr val="111A27"/>
                </a:solidFill>
                <a:latin typeface="Calibri"/>
              </a:rPr>
              <a:t>•  PV modelled at 70 deg tilt with snow albedo and cold-temperature gain; wind with air-density gain</a:t>
            </a:r>
          </a:p>
          <a:p>
            <a:pPr>
              <a:spcAft>
                <a:spcPts val="100"/>
              </a:spcAft>
              <a:buNone/>
            </a:pPr>
            <a:r>
              <a:rPr sz="980">
                <a:solidFill>
                  <a:srgbClr val="111A27"/>
                </a:solidFill>
                <a:latin typeface="Calibri"/>
              </a:rPr>
              <a:t>•  LightGBM quantile forecasts (p10/p50/p90) for load, solar and wind, 1–48 h</a:t>
            </a:r>
          </a:p>
          <a:p>
            <a:pPr>
              <a:spcAft>
                <a:spcPts val="100"/>
              </a:spcAft>
              <a:buNone/>
            </a:pPr>
            <a:r>
              <a:rPr sz="980">
                <a:solidFill>
                  <a:srgbClr val="111A27"/>
                </a:solidFill>
                <a:latin typeface="Calibri"/>
              </a:rPr>
              <a:t>•  MILP commits gensets, battery, curtailment and tiered shedding on a 36 h horizon</a:t>
            </a:r>
          </a:p>
          <a:p>
            <a:pPr>
              <a:spcBef>
                <a:spcPts val="60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0B4F9E"/>
                </a:solidFill>
                <a:latin typeface="Calibri"/>
              </a:rPr>
              <a:t>How it addresses the problem</a:t>
            </a:r>
          </a:p>
          <a:p>
            <a:pPr>
              <a:spcAft>
                <a:spcPts val="100"/>
              </a:spcAft>
              <a:buNone/>
            </a:pPr>
            <a:r>
              <a:rPr sz="980">
                <a:solidFill>
                  <a:srgbClr val="111A27"/>
                </a:solidFill>
                <a:latin typeface="Calibri"/>
              </a:rPr>
              <a:t>•  Delivers all four asks of the statement: load forecasting, renewable integration, fuel optimisation, extreme conditions</a:t>
            </a:r>
          </a:p>
          <a:p>
            <a:pPr>
              <a:spcAft>
                <a:spcPts val="100"/>
              </a:spcAft>
              <a:buNone/>
            </a:pPr>
            <a:r>
              <a:rPr sz="980">
                <a:solidFill>
                  <a:srgbClr val="111A27"/>
                </a:solidFill>
                <a:latin typeface="Calibri"/>
              </a:rPr>
              <a:t>•  But scores them on survivability to the next ship, not on cost per kWh</a:t>
            </a:r>
          </a:p>
          <a:p>
            <a:pPr>
              <a:spcBef>
                <a:spcPts val="60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0B4F9E"/>
                </a:solidFill>
                <a:latin typeface="Calibri"/>
              </a:rPr>
              <a:t>Innovation and uniqueness</a:t>
            </a:r>
          </a:p>
          <a:p>
            <a:pPr>
              <a:spcAft>
                <a:spcPts val="100"/>
              </a:spcAft>
              <a:buNone/>
            </a:pPr>
            <a:r>
              <a:rPr sz="980">
                <a:solidFill>
                  <a:srgbClr val="111A27"/>
                </a:solidFill>
                <a:latin typeface="Calibri"/>
              </a:rPr>
              <a:t>•  Annual-resupply fuel budgeting — absent from every commercial EMS (ABB, Schneider, SMA)</a:t>
            </a:r>
          </a:p>
          <a:p>
            <a:pPr>
              <a:spcAft>
                <a:spcPts val="100"/>
              </a:spcAft>
              <a:buNone/>
            </a:pPr>
            <a:r>
              <a:rPr sz="980">
                <a:solidFill>
                  <a:srgbClr val="111A27"/>
                </a:solidFill>
                <a:latin typeface="Calibri"/>
              </a:rPr>
              <a:t>•  Science-integrity dispatch — generator hours priced when forecast wind carries exhaust into the station's own clean-air samplers</a:t>
            </a:r>
          </a:p>
          <a:p>
            <a:pPr>
              <a:spcAft>
                <a:spcPts val="100"/>
              </a:spcAft>
              <a:buNone/>
            </a:pPr>
            <a:r>
              <a:rPr sz="980">
                <a:solidFill>
                  <a:srgbClr val="111A27"/>
                </a:solidFill>
                <a:latin typeface="Calibri"/>
              </a:rPr>
              <a:t>•  Physical-availability forecasting — drifted panels and iced blades, which decorrelate from the weather forecast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latin typeface="Calibri"/>
              </a:rPr>
              <a:t>&lt;Team Name&gt;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3" name="Picture 15362" descr="fig_constrai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417320"/>
            <a:ext cx="4892040" cy="2425361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6995160" y="4114800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4A5768"/>
                </a:solidFill>
                <a:latin typeface="Calibri"/>
              </a:rPr>
              <a:t>Left: same weather, same station, two tanks draining. Right: the sector in which our own exhaust would corrupt our own measurements.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600" b="1">
                <a:latin typeface="Calibri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051560"/>
            <a:ext cx="11247120" cy="2377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sz="1200" b="1">
                <a:solidFill>
                  <a:srgbClr val="0B4F9E"/>
                </a:solidFill>
                <a:latin typeface="Calibri"/>
              </a:rPr>
              <a:t>Technologies to be used</a:t>
            </a:r>
          </a:p>
          <a:p>
            <a:pPr>
              <a:spcAft>
                <a:spcPts val="100"/>
              </a:spcAft>
              <a:buNone/>
            </a:pPr>
            <a:r>
              <a:rPr sz="1000">
                <a:solidFill>
                  <a:srgbClr val="111A27"/>
                </a:solidFill>
                <a:latin typeface="Calibri"/>
              </a:rPr>
              <a:t>•  Python · pandas · NumPy · pvlib (PV physics) · LightGBM (quantile regression)</a:t>
            </a:r>
          </a:p>
          <a:p>
            <a:pPr>
              <a:spcAft>
                <a:spcPts val="100"/>
              </a:spcAft>
              <a:buNone/>
            </a:pPr>
            <a:r>
              <a:rPr sz="1000">
                <a:solidFill>
                  <a:srgbClr val="111A27"/>
                </a:solidFill>
                <a:latin typeface="Calibri"/>
              </a:rPr>
              <a:t>•  PuLP + HiGHS mixed-integer solver · SciPy · Parquet cache · pytest</a:t>
            </a:r>
          </a:p>
          <a:p>
            <a:pPr>
              <a:spcAft>
                <a:spcPts val="100"/>
              </a:spcAft>
              <a:buNone/>
            </a:pPr>
            <a:r>
              <a:rPr sz="1000">
                <a:solidFill>
                  <a:srgbClr val="111A27"/>
                </a:solidFill>
                <a:latin typeface="Calibri"/>
              </a:rPr>
              <a:t>•  ERA5 reanalysis (Copernicus, via an open archive API — no credentials, cached offline)</a:t>
            </a:r>
          </a:p>
          <a:p>
            <a:pPr>
              <a:spcAft>
                <a:spcPts val="100"/>
              </a:spcAft>
              <a:buNone/>
            </a:pPr>
            <a:r>
              <a:rPr sz="1000">
                <a:solidFill>
                  <a:srgbClr val="111A27"/>
                </a:solidFill>
                <a:latin typeface="Calibri"/>
              </a:rPr>
              <a:t>•  Web console: React · Emotion · Motion, built for offline use · Modbus + MQTT setpoint interface</a:t>
            </a:r>
          </a:p>
          <a:p>
            <a:pPr>
              <a:spcBef>
                <a:spcPts val="60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0B4F9E"/>
                </a:solidFill>
                <a:latin typeface="Calibri"/>
              </a:rPr>
              <a:t>Methodology and process for implementation</a:t>
            </a:r>
          </a:p>
          <a:p>
            <a:pPr>
              <a:spcAft>
                <a:spcPts val="100"/>
              </a:spcAft>
              <a:buNone/>
            </a:pPr>
            <a:r>
              <a:rPr sz="1000">
                <a:solidFill>
                  <a:srgbClr val="111A27"/>
                </a:solidFill>
                <a:latin typeface="Calibri"/>
              </a:rPr>
              <a:t>•  Closed-loop simulation scored over 208 days (2023-02-01 to 2023-08-30, after a 48 h warm-up), re-optimised on a 36 h rolling horizon</a:t>
            </a:r>
          </a:p>
          <a:p>
            <a:pPr>
              <a:spcAft>
                <a:spcPts val="100"/>
              </a:spcAft>
              <a:buNone/>
            </a:pPr>
            <a:r>
              <a:rPr sz="1000">
                <a:solidFill>
                  <a:srgbClr val="111A27"/>
                </a:solidFill>
                <a:latin typeface="Calibri"/>
              </a:rPr>
              <a:t>•  Four controllers on identical weather: fixed schedule, tuned rule-based, ours, perfect-foresight oracle — plus a point-forecast ablation</a:t>
            </a:r>
          </a:p>
          <a:p>
            <a:pPr>
              <a:spcAft>
                <a:spcPts val="100"/>
              </a:spcAft>
              <a:buNone/>
            </a:pPr>
            <a:r>
              <a:rPr sz="1000">
                <a:solidFill>
                  <a:srgbClr val="111A27"/>
                </a:solidFill>
                <a:latin typeface="Calibri"/>
              </a:rPr>
              <a:t>•  Stress tests: four-day blizzard, 48 h genset failure, 12 h badly wrong forecast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latin typeface="Calibri"/>
              </a:rPr>
              <a:t>&lt;Team Name&gt;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17410" descr="fig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46120"/>
            <a:ext cx="11201400" cy="2299537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502920" y="5486400"/>
            <a:ext cx="11201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4A5768"/>
                </a:solidFill>
                <a:latin typeface="Calibri"/>
              </a:rPr>
              <a:t>Every stage is implemented and runs end to end on one command; the whole pipeline works with the network down, which is the station's real operating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600" b="1">
                <a:latin typeface="Calibri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051560"/>
            <a:ext cx="6400800" cy="512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200" b="1">
                <a:solidFill>
                  <a:srgbClr val="0B4F9E"/>
                </a:solidFill>
                <a:latin typeface="Calibri"/>
              </a:rPr>
              <a:t>Analysis of the feasibility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100"/>
              </a:spcAft>
              <a:buNone/>
            </a:pPr>
            <a:r>
              <a:rPr sz="960">
                <a:solidFill>
                  <a:srgbClr val="111A27"/>
                </a:solidFill>
                <a:latin typeface="Calibri"/>
              </a:rPr>
              <a:t>•  Already built and running: no hardware, no data collection, no annotation</a:t>
            </a:r>
          </a:p>
          <a:p>
            <a:pPr>
              <a:spcAft>
                <a:spcPts val="100"/>
              </a:spcAft>
              <a:buNone/>
            </a:pPr>
            <a:r>
              <a:rPr sz="960">
                <a:solidFill>
                  <a:srgbClr val="111A27"/>
                </a:solidFill>
                <a:latin typeface="Calibri"/>
              </a:rPr>
              <a:t>•  MILP solves in ~667 ms per step — an edge laptop is enough</a:t>
            </a:r>
          </a:p>
          <a:p>
            <a:pPr>
              <a:spcAft>
                <a:spcPts val="100"/>
              </a:spcAft>
              <a:buNone/>
            </a:pPr>
            <a:r>
              <a:rPr sz="960">
                <a:solidFill>
                  <a:srgbClr val="111A27"/>
                </a:solidFill>
                <a:latin typeface="Calibri"/>
              </a:rPr>
              <a:t>•  Forecast skill on an unseen year: load 2.2% MAPE, solar 12.1%, wind 20.0%</a:t>
            </a:r>
          </a:p>
          <a:p>
            <a:pPr>
              <a:spcAft>
                <a:spcPts val="100"/>
              </a:spcAft>
              <a:buNone/>
            </a:pPr>
            <a:r>
              <a:rPr sz="960">
                <a:solidFill>
                  <a:srgbClr val="111A27"/>
                </a:solidFill>
                <a:latin typeface="Calibri"/>
              </a:rPr>
              <a:t>•  p90 forecast band covers 89% of hours — calibrated, which is what the reserve rule consumes</a:t>
            </a:r>
          </a:p>
          <a:p>
            <a:pPr>
              <a:spcBef>
                <a:spcPts val="60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0B4F9E"/>
                </a:solidFill>
                <a:latin typeface="Calibri"/>
              </a:rPr>
              <a:t>Potential challenges and risks</a:t>
            </a:r>
          </a:p>
          <a:p>
            <a:pPr>
              <a:spcAft>
                <a:spcPts val="100"/>
              </a:spcAft>
              <a:buNone/>
            </a:pPr>
            <a:r>
              <a:rPr sz="960">
                <a:solidFill>
                  <a:srgbClr val="111A27"/>
                </a:solidFill>
                <a:latin typeface="Calibri"/>
              </a:rPr>
              <a:t>•  No public electrical-load data exists for ANY polar research station</a:t>
            </a:r>
          </a:p>
          <a:p>
            <a:pPr>
              <a:spcAft>
                <a:spcPts val="100"/>
              </a:spcAft>
              <a:buNone/>
            </a:pPr>
            <a:r>
              <a:rPr sz="960">
                <a:solidFill>
                  <a:srgbClr val="111A27"/>
                </a:solidFill>
                <a:latin typeface="Calibri"/>
              </a:rPr>
              <a:t>•  Maitri II generator, PV and turbine ratings are not yet published</a:t>
            </a:r>
          </a:p>
          <a:p>
            <a:pPr>
              <a:spcAft>
                <a:spcPts val="100"/>
              </a:spcAft>
              <a:buNone/>
            </a:pPr>
            <a:r>
              <a:rPr sz="960">
                <a:solidFill>
                  <a:srgbClr val="111A27"/>
                </a:solidFill>
                <a:latin typeface="Calibri"/>
              </a:rPr>
              <a:t>•  The team writes both the simulator and the controller</a:t>
            </a:r>
          </a:p>
          <a:p>
            <a:pPr>
              <a:spcAft>
                <a:spcPts val="100"/>
              </a:spcAft>
              <a:buNone/>
            </a:pPr>
            <a:r>
              <a:rPr sz="960">
                <a:solidFill>
                  <a:srgbClr val="111A27"/>
                </a:solidFill>
                <a:latin typeface="Calibri"/>
              </a:rPr>
              <a:t>•  Margin over a well-tuned rule-based controller can be modest</a:t>
            </a:r>
          </a:p>
          <a:p>
            <a:pPr>
              <a:spcBef>
                <a:spcPts val="60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0B4F9E"/>
                </a:solidFill>
                <a:latin typeface="Calibri"/>
              </a:rPr>
              <a:t>Strategies for overcoming these challenges</a:t>
            </a:r>
          </a:p>
          <a:p>
            <a:pPr>
              <a:spcAft>
                <a:spcPts val="100"/>
              </a:spcAft>
              <a:buNone/>
            </a:pPr>
            <a:r>
              <a:rPr sz="960">
                <a:solidFill>
                  <a:srgbClr val="111A27"/>
                </a:solidFill>
                <a:latin typeface="Calibri"/>
              </a:rPr>
              <a:t>•  Load modelled bottom-up from physics, never drawn; checked against published Antarctic station fuel-demand shapes</a:t>
            </a:r>
          </a:p>
          <a:p>
            <a:pPr>
              <a:spcAft>
                <a:spcPts val="100"/>
              </a:spcAft>
              <a:buNone/>
            </a:pPr>
            <a:r>
              <a:rPr sz="960">
                <a:solidFill>
                  <a:srgbClr val="111A27"/>
                </a:solidFill>
                <a:latin typeface="Calibri"/>
              </a:rPr>
              <a:t>•  All 64 parameters carry source, confidence and a sensitivity range, shown in an Assumptions tab in the demo</a:t>
            </a:r>
          </a:p>
          <a:p>
            <a:pPr>
              <a:spcAft>
                <a:spcPts val="100"/>
              </a:spcAft>
              <a:buNone/>
            </a:pPr>
            <a:r>
              <a:rPr sz="960">
                <a:solidFill>
                  <a:srgbClr val="111A27"/>
                </a:solidFill>
                <a:latin typeface="Calibri"/>
              </a:rPr>
              <a:t>•  Honest baselines: a tuned rule-based controller and a perfect-foresight oracle bound</a:t>
            </a:r>
          </a:p>
          <a:p>
            <a:pPr>
              <a:spcAft>
                <a:spcPts val="100"/>
              </a:spcAft>
              <a:buNone/>
            </a:pPr>
            <a:r>
              <a:rPr sz="960">
                <a:solidFill>
                  <a:srgbClr val="111A27"/>
                </a:solidFill>
                <a:latin typeface="Calibri"/>
              </a:rPr>
              <a:t>•  Framed as a sizing and operating-policy explorer for Maitri II, turning the unknown ratings into the use case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latin typeface="Calibri"/>
              </a:rPr>
              <a:t>&lt;Team Name&gt;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17410" descr="fig_resul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371600"/>
            <a:ext cx="4846320" cy="2069741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7040880" y="397763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4A5768"/>
                </a:solidFill>
                <a:latin typeface="Calibri"/>
              </a:rPr>
              <a:t>Same weather, same twin. Ours closes 91% of the gap between the tuned baseline and a perfect-foresight bound, at 0 critical outages against 6.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600" b="1">
                <a:latin typeface="Calibri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051560"/>
            <a:ext cx="6400800" cy="512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200" b="1">
                <a:solidFill>
                  <a:srgbClr val="0B4F9E"/>
                </a:solidFill>
                <a:latin typeface="Calibri"/>
              </a:rPr>
              <a:t>Potential impact on the target audience</a:t>
            </a:r>
          </a:p>
          <a:p>
            <a:pPr>
              <a:spcAft>
                <a:spcPts val="100"/>
              </a:spcAft>
              <a:buNone/>
            </a:pPr>
            <a:r>
              <a:rPr sz="960">
                <a:solidFill>
                  <a:srgbClr val="111A27"/>
                </a:solidFill>
                <a:latin typeface="Calibri"/>
              </a:rPr>
              <a:t>•  NCPOR station engineers at Maitri and Bharati: decision support for a fatigued operator in polar night, not a replacement</a:t>
            </a:r>
          </a:p>
          <a:p>
            <a:pPr>
              <a:spcAft>
                <a:spcPts val="100"/>
              </a:spcAft>
              <a:buNone/>
            </a:pPr>
            <a:r>
              <a:rPr sz="960">
                <a:solidFill>
                  <a:srgbClr val="111A27"/>
                </a:solidFill>
                <a:latin typeface="Calibri"/>
              </a:rPr>
              <a:t>•  Maitri II — approved, ~Rs 2,000 crore, targeted 2029, explicitly a green station: this is an operating policy and a sizing tool for a station still on the drawing board</a:t>
            </a:r>
          </a:p>
          <a:p>
            <a:pPr>
              <a:spcAft>
                <a:spcPts val="100"/>
              </a:spcAft>
              <a:buNone/>
            </a:pPr>
            <a:r>
              <a:rPr sz="960">
                <a:solidFill>
                  <a:srgbClr val="111A27"/>
                </a:solidFill>
                <a:latin typeface="Calibri"/>
              </a:rPr>
              <a:t>•  Directly transferable to Himalayan, island and forward defence outposts on annual resupply</a:t>
            </a:r>
          </a:p>
          <a:p>
            <a:pPr>
              <a:spcBef>
                <a:spcPts val="60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0B4F9E"/>
                </a:solidFill>
                <a:latin typeface="Calibri"/>
              </a:rPr>
              <a:t>Benefits of the solution</a:t>
            </a:r>
          </a:p>
          <a:p>
            <a:pPr>
              <a:spcAft>
                <a:spcPts val="100"/>
              </a:spcAft>
              <a:buNone/>
            </a:pPr>
            <a:r>
              <a:rPr sz="960">
                <a:solidFill>
                  <a:srgbClr val="111A27"/>
                </a:solidFill>
                <a:latin typeface="Calibri"/>
              </a:rPr>
              <a:t>•  Economic — 8,615 L less diesel over the modelled season; fuel delivered by ice-class ship costs a multiple of its pump price</a:t>
            </a:r>
          </a:p>
          <a:p>
            <a:pPr>
              <a:spcAft>
                <a:spcPts val="100"/>
              </a:spcAft>
              <a:buNone/>
            </a:pPr>
            <a:r>
              <a:rPr sz="960">
                <a:solidFill>
                  <a:srgbClr val="111A27"/>
                </a:solidFill>
                <a:latin typeface="Calibri"/>
              </a:rPr>
              <a:t>•  Operational — critical outages cut from 6 to 0 on identical weather; unserved critical energy 328.4 → 0.0 kWh</a:t>
            </a:r>
          </a:p>
          <a:p>
            <a:pPr>
              <a:spcAft>
                <a:spcPts val="100"/>
              </a:spcAft>
              <a:buNone/>
            </a:pPr>
            <a:r>
              <a:rPr sz="960">
                <a:solidFill>
                  <a:srgbClr val="111A27"/>
                </a:solidFill>
                <a:latin typeface="Calibri"/>
              </a:rPr>
              <a:t>•  Scientific — clean-air sampling windows protected 27% → 44%, so the station's own record stays usable</a:t>
            </a:r>
          </a:p>
          <a:p>
            <a:pPr>
              <a:spcAft>
                <a:spcPts val="100"/>
              </a:spcAft>
              <a:buNone/>
            </a:pPr>
            <a:r>
              <a:rPr sz="960">
                <a:solidFill>
                  <a:srgbClr val="111A27"/>
                </a:solidFill>
                <a:latin typeface="Calibri"/>
              </a:rPr>
              <a:t>•  Environmental — less combustion and fewer fuel movements in an Antarctic Treaty protected area; renewables actually used 92% of what they generate</a:t>
            </a:r>
          </a:p>
          <a:p>
            <a:pPr>
              <a:spcAft>
                <a:spcPts val="100"/>
              </a:spcAft>
              <a:buNone/>
            </a:pPr>
            <a:r>
              <a:rPr sz="960">
                <a:solidFill>
                  <a:srgbClr val="111A27"/>
                </a:solidFill>
                <a:latin typeface="Calibri"/>
              </a:rPr>
              <a:t>•  Strategic — an Indian-built operating policy for Indian polar assets, not a licensed foreign 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latin typeface="Calibri"/>
              </a:rPr>
              <a:t>&lt;Team Name&gt;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1" name="Picture 17410" descr="fig_i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463040"/>
            <a:ext cx="4892040" cy="2155066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995160" y="3977639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i="1">
                <a:solidFill>
                  <a:srgbClr val="4A5768"/>
                </a:solidFill>
                <a:latin typeface="Calibri"/>
              </a:rPr>
              <a:t>Measured over the simulated season on identical weather; every figure is regenerated from results/run.json, never typed in.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sz="2600" b="1">
                <a:latin typeface="Calibri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051560"/>
            <a:ext cx="5669280" cy="5120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tabLst/>
              <a:defRPr/>
              <a:buNone/>
            </a:pPr>
            <a:r>
              <a:rPr sz="1200" b="1">
                <a:solidFill>
                  <a:srgbClr val="0B4F9E"/>
                </a:solidFill>
                <a:latin typeface="Calibri"/>
              </a:rPr>
              <a:t>Polar energy literature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100"/>
              </a:spcAft>
              <a:buNone/>
            </a:pPr>
            <a:r>
              <a:rPr sz="919">
                <a:solidFill>
                  <a:srgbClr val="111A27"/>
                </a:solidFill>
                <a:latin typeface="Calibri"/>
              </a:rPr>
              <a:t>•  de Witt, Chung &amp; Lee (2024). Mapping Renewable Energy among Antarctic Research Stations. Sustainability 16(1), 426. doi:10.3390/su16010426</a:t>
            </a:r>
          </a:p>
          <a:p>
            <a:pPr>
              <a:spcAft>
                <a:spcPts val="100"/>
              </a:spcAft>
              <a:buNone/>
            </a:pPr>
            <a:r>
              <a:rPr sz="919">
                <a:solidFill>
                  <a:srgbClr val="111A27"/>
                </a:solidFill>
                <a:latin typeface="Calibri"/>
              </a:rPr>
              <a:t>•  Modeling Hybrid Renewable Microgrids in Remote Northern Regions. Energies (2025) 18, 5827. doi:10.3390/en18215827</a:t>
            </a:r>
          </a:p>
          <a:p>
            <a:pPr>
              <a:spcAft>
                <a:spcPts val="100"/>
              </a:spcAft>
              <a:buNone/>
            </a:pPr>
            <a:r>
              <a:rPr sz="919">
                <a:solidFill>
                  <a:srgbClr val="111A27"/>
                </a:solidFill>
                <a:latin typeface="Calibri"/>
              </a:rPr>
              <a:t>•  Learning from Arctic Microgrids: cost and resiliency with hydrogen and battery storage. Sustainability (2025) 17, 5996. doi:10.3390/su17135996</a:t>
            </a:r>
          </a:p>
          <a:p>
            <a:pPr>
              <a:spcAft>
                <a:spcPts val="100"/>
              </a:spcAft>
              <a:buNone/>
            </a:pPr>
            <a:r>
              <a:rPr sz="919">
                <a:solidFill>
                  <a:srgbClr val="111A27"/>
                </a:solidFill>
                <a:latin typeface="Calibri"/>
              </a:rPr>
              <a:t>•  Parent &amp; Ilinca (2011). Anti-icing and de-icing techniques for wind turbines. Cold Regions Science and Technology 65, 88–96</a:t>
            </a:r>
          </a:p>
          <a:p>
            <a:pPr>
              <a:spcAft>
                <a:spcPts val="100"/>
              </a:spcAft>
              <a:buNone/>
            </a:pPr>
            <a:r>
              <a:rPr sz="919">
                <a:solidFill>
                  <a:srgbClr val="111A27"/>
                </a:solidFill>
                <a:latin typeface="Calibri"/>
              </a:rPr>
              <a:t>•  MPC-based energy management for an isolated electro-thermal microgrid. Energy Conversion and Management (2024)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00" b="1">
                <a:latin typeface="Calibri"/>
              </a:rPr>
              <a:t>&lt;Team Name&gt;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411" name="TextBox 17410"/>
          <p:cNvSpPr txBox="1"/>
          <p:nvPr/>
        </p:nvSpPr>
        <p:spPr>
          <a:xfrm>
            <a:off x="6355080" y="1051560"/>
            <a:ext cx="5440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0B4F9E"/>
                </a:solidFill>
                <a:latin typeface="Calibri"/>
              </a:rPr>
              <a:t>Data and tooling</a:t>
            </a:r>
          </a:p>
          <a:p>
            <a:pPr>
              <a:spcAft>
                <a:spcPts val="100"/>
              </a:spcAft>
              <a:buNone/>
            </a:pPr>
            <a:r>
              <a:rPr sz="919">
                <a:solidFill>
                  <a:srgbClr val="111A27"/>
                </a:solidFill>
                <a:latin typeface="Calibri"/>
              </a:rPr>
              <a:t>•  ERA5 reanalysis, Copernicus Climate Change Service / ECMWF — hourly, 9 years at 70.77 S, 11.73 E (Maitri, Schirmacher Oasis)</a:t>
            </a:r>
          </a:p>
          <a:p>
            <a:pPr>
              <a:spcAft>
                <a:spcPts val="100"/>
              </a:spcAft>
              <a:buNone/>
            </a:pPr>
            <a:r>
              <a:rPr sz="919">
                <a:solidFill>
                  <a:srgbClr val="111A27"/>
                </a:solidFill>
                <a:latin typeface="Calibri"/>
              </a:rPr>
              <a:t>•  pvlib-python for irradiance transposition and cell temperature</a:t>
            </a:r>
          </a:p>
          <a:p>
            <a:pPr>
              <a:spcAft>
                <a:spcPts val="100"/>
              </a:spcAft>
              <a:buNone/>
            </a:pPr>
            <a:r>
              <a:rPr sz="919">
                <a:solidFill>
                  <a:srgbClr val="111A27"/>
                </a:solidFill>
                <a:latin typeface="Calibri"/>
              </a:rPr>
              <a:t>•  HiGHS mixed-integer solver; LightGBM quantile regression</a:t>
            </a:r>
          </a:p>
          <a:p>
            <a:pPr>
              <a:spcAft>
                <a:spcPts val="100"/>
              </a:spcAft>
              <a:buNone/>
            </a:pPr>
            <a:r>
              <a:rPr sz="919">
                <a:solidFill>
                  <a:srgbClr val="111A27"/>
                </a:solidFill>
                <a:latin typeface="Calibri"/>
              </a:rPr>
              <a:t>•  SCAR READER, AMRC automatic weather stations, BSRN radiation — cross-checks</a:t>
            </a:r>
          </a:p>
          <a:p>
            <a:pPr>
              <a:spcBef>
                <a:spcPts val="60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0B4F9E"/>
                </a:solidFill>
                <a:latin typeface="Calibri"/>
              </a:rPr>
              <a:t>Station and programme sources</a:t>
            </a:r>
          </a:p>
          <a:p>
            <a:pPr>
              <a:spcAft>
                <a:spcPts val="100"/>
              </a:spcAft>
              <a:buNone/>
            </a:pPr>
            <a:r>
              <a:rPr sz="919">
                <a:solidFill>
                  <a:srgbClr val="111A27"/>
                </a:solidFill>
                <a:latin typeface="Calibri"/>
              </a:rPr>
              <a:t>•  NCPOR / COMNAP Antarctic Station Catalogue: Maitri (1989), Bharati (2012)</a:t>
            </a:r>
          </a:p>
          <a:p>
            <a:pPr>
              <a:spcAft>
                <a:spcPts val="100"/>
              </a:spcAft>
              <a:buNone/>
            </a:pPr>
            <a:r>
              <a:rPr sz="919">
                <a:solidFill>
                  <a:srgbClr val="111A27"/>
                </a:solidFill>
                <a:latin typeface="Calibri"/>
              </a:rPr>
              <a:t>•  Public reporting on Maitri II approval: ~Rs 2,000 crore, target January 2029, wind and solar powered, waste-heat recovery, unmanned data relay</a:t>
            </a:r>
          </a:p>
          <a:p>
            <a:pPr>
              <a:spcAft>
                <a:spcPts val="100"/>
              </a:spcAft>
              <a:buNone/>
            </a:pPr>
            <a:r>
              <a:rPr sz="919">
                <a:solidFill>
                  <a:srgbClr val="111A27"/>
                </a:solidFill>
                <a:latin typeface="Calibri"/>
              </a:rPr>
              <a:t>•  SIH 2026 portal record for SIH26061 (MoES / NCPOR, Clean &amp; Green Technology)</a:t>
            </a:r>
          </a:p>
          <a:p>
            <a:pPr>
              <a:spcBef>
                <a:spcPts val="600"/>
              </a:spcBef>
              <a:spcAft>
                <a:spcPts val="200"/>
              </a:spcAft>
              <a:buNone/>
            </a:pPr>
            <a:r>
              <a:rPr sz="1200" b="1">
                <a:solidFill>
                  <a:srgbClr val="0B4F9E"/>
                </a:solidFill>
                <a:latin typeface="Calibri"/>
              </a:rPr>
              <a:t>Our work</a:t>
            </a:r>
          </a:p>
          <a:p>
            <a:pPr>
              <a:spcAft>
                <a:spcPts val="100"/>
              </a:spcAft>
              <a:buNone/>
            </a:pPr>
            <a:r>
              <a:rPr sz="919">
                <a:solidFill>
                  <a:srgbClr val="111A27"/>
                </a:solidFill>
                <a:latin typeface="Calibri"/>
              </a:rPr>
              <a:t>•  Code, tests, results and the offline console: github.com/NSUT-SIH-26/NSUT-SIH-DEMO</a:t>
            </a:r>
          </a:p>
          <a:p>
            <a:pPr>
              <a:spcAft>
                <a:spcPts val="100"/>
              </a:spcAft>
              <a:buNone/>
            </a:pPr>
            <a:r>
              <a:rPr sz="919">
                <a:solidFill>
                  <a:srgbClr val="111A27"/>
                </a:solidFill>
                <a:latin typeface="Calibri"/>
              </a:rPr>
              <a:t>•  One command reproduces every number on these slides from real ERA5 weather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